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4" r:id="rId10"/>
    <p:sldId id="275" r:id="rId11"/>
    <p:sldId id="27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51"/>
    <p:restoredTop sz="94633"/>
  </p:normalViewPr>
  <p:slideViewPr>
    <p:cSldViewPr snapToGrid="0">
      <p:cViewPr varScale="1">
        <p:scale>
          <a:sx n="88" d="100"/>
          <a:sy n="88" d="100"/>
        </p:scale>
        <p:origin x="17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1C29CD-B6D6-5B95-5F8D-656E67304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0F9436-47ED-BAE4-DFFE-F481A0194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3EF8BB-7276-153B-AECF-F03F9D21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B1B88-3539-F37A-070C-9E3F3139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644FD1-2D6D-2AC9-5316-9A19081D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2808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547F4-258A-8EF7-4AE2-948E8B48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97CDFC-D1D1-6B38-C170-1FEDB25FD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D5E5CF-4254-1BB2-28B7-AA26A475B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4F0E2D-B503-F81D-EE5F-E6AE5FA7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6CEBAA-1F8B-550A-95F2-3CAF70B5B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2194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2AD8D-9F96-05E4-3085-0FB6E2280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362494-CECB-A745-BFAD-649E64043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250878-69F9-044B-90D6-99272BB3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969BCB-F720-3573-4519-3713A1444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EEA0D8-E23C-9058-837D-8F1F8D02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4243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19AD3-664A-21F0-2365-61B2BA64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A2271A-11F7-1728-6750-E163D5C20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9274F2-B62D-BCA6-84AC-5E4488F9E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7D2BF3-BC09-FC1B-5064-F97DA9BE7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30DE58-6037-6A1C-D5B6-6DDB5B4F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544ED6-3FFB-A24E-E9D3-D558FAF45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581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4BE1C-F49C-A543-C28A-7F7194DAD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C1AC27-8C77-B335-F8EF-46919B3DD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84B995-C703-76F7-DE90-74912A101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91076A0-FCDE-3C2C-2407-0CDE9D9FD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EFE18D-4E91-2112-90B2-18BF6BAFB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DA97DE-9E7A-F9B4-E1C1-1D7892BA6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353DB4-AE0E-2CD6-7DE6-F0947F4E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794E03-D8E5-5725-9B74-AB2899A1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81288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871E1A-E734-DAF9-1C4D-AB42B17A7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BA79ED-A935-D409-2CDD-D0D863C3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3890A1-44B3-E761-B289-802590FD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8C33A3-57ED-7769-A96A-AC8D2617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8305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F967B9-C4A2-E8EB-C284-667F7BC92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B7D432-A499-E77B-8BE5-747EEF178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D3EC76-2485-9845-9F22-55AE5539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5386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42A9-731D-A5C8-EC3F-E49FE0430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9C30BE-A8D1-7273-D247-C9F425E0D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4AF53-7EFA-A88C-B655-485D4A991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9EC404-AD69-8D5B-8E2F-D5023D6AA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6779A0-9BE4-784E-B4EC-C5E66F4E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3AE413-1991-202A-E429-3199B76F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6663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42505-29ED-5962-0380-C2E051635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7B98FC-36B7-B83B-9F14-779C1021D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CBD728-2539-E0CE-8BA0-25E9C620C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F75DA3-CD8E-EEFE-4386-E2B230828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03DE53-AD89-8E1C-E93E-6E49AD69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3F5737-6F5A-861B-A11B-A7EB8798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442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06F8E-D82D-49B7-A5B2-50D9E15CD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C0CE4B-10BE-96E3-B8C8-AD2D5C544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9C1214-5A4E-9449-CCCD-74E1A6468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D4E0CA-871B-8FCC-07BB-DF65ECE5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AEFD3D-5D52-F126-798C-C8102042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210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38D3EB-9516-8FD6-B415-71F4270EF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7B8A00-A2DC-C62F-BD80-34A4EB74A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D7E69F-11E6-DBDA-48F7-9A41F438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410395-4F4C-FE87-5974-4160F7D1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97E3D0-7C5F-4225-AB7B-A9F1E04DD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454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CF545C-25E0-9F1A-A4FB-2656F7952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615363-3B2B-AEE8-B59B-CA98C616D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EC6CDF-D902-A86B-E59F-453CA80428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EB3ACC-B791-2543-23DD-682028864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5F0357-688F-8C4F-25D5-8DCCF6A5F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965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5217D-D10C-EDA6-710B-149D2AD760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혼자 공부하는 운영체제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53B3C5-FBA5-1081-4920-C2DE97C21E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kumimoji="1" lang="en-US" altLang="ko-KR" dirty="0"/>
              <a:t>9-2</a:t>
            </a:r>
            <a:r>
              <a:rPr kumimoji="1" lang="ko-KR" altLang="en-US" dirty="0"/>
              <a:t> 운영체제의 큰 그림 </a:t>
            </a:r>
          </a:p>
        </p:txBody>
      </p:sp>
    </p:spTree>
    <p:extLst>
      <p:ext uri="{BB962C8B-B14F-4D97-AF65-F5344CB8AC3E}">
        <p14:creationId xmlns:p14="http://schemas.microsoft.com/office/powerpoint/2010/main" val="297902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4B109-7762-70F3-C924-F3EDEF37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F54CB-8E70-7208-A3B9-4A104639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운영체제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EE64B-BD7F-EF2F-8991-CA0FB28E9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사용자가 실행하는 프로그램을 위한 프로그램</a:t>
            </a: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F33F5B-1554-36BA-B4AA-9C95F5E8A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404166"/>
            <a:ext cx="518160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7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03466-4434-B1B5-6170-9692EB8A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FA20F5-22EB-E92F-1936-3A682BBF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커널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D820D3-CD7C-2DD7-28DD-DCDF2CB53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운영체제의 핵심 서비스를 담당하는 부분</a:t>
            </a:r>
            <a:endParaRPr kumimoji="1"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A4808C-C390-8A29-650A-170C7494E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565" y="2420814"/>
            <a:ext cx="5554870" cy="431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727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7321A-E31A-B5C8-E663-B052C148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E6F7C-235D-318D-4C70-F063478C1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사용자 인터페이스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709489-BC86-DA58-FA0C-1C8CD4AF6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그래픽 유저 인터페이스</a:t>
            </a:r>
            <a:endParaRPr kumimoji="1" lang="en-US" altLang="ko-KR" dirty="0"/>
          </a:p>
          <a:p>
            <a:r>
              <a:rPr kumimoji="1" lang="ko-KR" altLang="en-US" dirty="0"/>
              <a:t>커맨드 라인 인터페이스</a:t>
            </a: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5F3706-9F23-55B1-A751-462AA5127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75" y="3031743"/>
            <a:ext cx="5089525" cy="34611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99C835E-6171-7E85-D0C2-6F7D88DFE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275" y="3031742"/>
            <a:ext cx="5392081" cy="346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1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0AA0C-EE93-7D6B-5DC2-02CD03EFE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39C7C-638B-7E5C-9A2B-5175839B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사용자 인터페이스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33D29A-5126-8455-5E10-4BCBF797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그래픽 유저 인터페이스</a:t>
            </a:r>
            <a:endParaRPr kumimoji="1" lang="en-US" altLang="ko-KR" dirty="0"/>
          </a:p>
          <a:p>
            <a:r>
              <a:rPr kumimoji="1" lang="ko-KR" altLang="en-US" dirty="0"/>
              <a:t>커맨드 라인 인터페이스</a:t>
            </a: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38676A-98C0-736B-11E8-A09537DE8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75" y="3031743"/>
            <a:ext cx="5089525" cy="34611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899813-7E1B-7EFB-C1F5-71FC54C5F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275" y="3031742"/>
            <a:ext cx="5392081" cy="346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467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92851-8ED1-E2A9-07CB-04B0DDFF8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54BE0-5641-9221-48F5-F0A9EC4E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이중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3FAAC6-B279-5449-4847-79E343BFB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>
                <a:highlight>
                  <a:srgbClr val="FFFF00"/>
                </a:highlight>
              </a:rPr>
              <a:t>사용자 모드</a:t>
            </a:r>
            <a:r>
              <a:rPr kumimoji="1" lang="en-US" altLang="ko-KR" dirty="0"/>
              <a:t>:</a:t>
            </a:r>
            <a:r>
              <a:rPr kumimoji="1" lang="ko-KR" altLang="en-US" dirty="0"/>
              <a:t> 운영체제 서비스를 제공받을 수 없는 실행 모드</a:t>
            </a:r>
            <a:endParaRPr kumimoji="1" lang="en-US" altLang="ko-KR" dirty="0"/>
          </a:p>
          <a:p>
            <a:r>
              <a:rPr kumimoji="1" lang="ko-KR" altLang="en-US" dirty="0">
                <a:highlight>
                  <a:srgbClr val="FFFF00"/>
                </a:highlight>
              </a:rPr>
              <a:t>커널 모드</a:t>
            </a:r>
            <a:r>
              <a:rPr kumimoji="1" lang="en-US" altLang="ko-KR" dirty="0"/>
              <a:t>:</a:t>
            </a:r>
            <a:r>
              <a:rPr kumimoji="1" lang="ko-KR" altLang="en-US" dirty="0"/>
              <a:t> 운영체제 서비스를 제공받을 수 있는 실행 모드</a:t>
            </a:r>
            <a:endParaRPr kumimoji="1" lang="en-US" altLang="ko-KR" dirty="0"/>
          </a:p>
          <a:p>
            <a:r>
              <a:rPr kumimoji="1" lang="ko-KR" altLang="en-US" dirty="0"/>
              <a:t>사용자 모드로 운영체제 서비스를 제공받으려면 요청을 보내 커널 모드로 </a:t>
            </a:r>
            <a:r>
              <a:rPr kumimoji="1" lang="ko-KR" altLang="en-US" dirty="0" err="1"/>
              <a:t>전환되어야하는데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 요청을 </a:t>
            </a:r>
            <a:r>
              <a:rPr kumimoji="1" lang="ko-KR" altLang="en-US" dirty="0">
                <a:highlight>
                  <a:srgbClr val="FFFF00"/>
                </a:highlight>
              </a:rPr>
              <a:t>시스템 호출</a:t>
            </a:r>
            <a:r>
              <a:rPr kumimoji="1" lang="en-US" altLang="ko-KR" dirty="0">
                <a:highlight>
                  <a:srgbClr val="FFFF00"/>
                </a:highlight>
              </a:rPr>
              <a:t>.</a:t>
            </a:r>
          </a:p>
          <a:p>
            <a:r>
              <a:rPr kumimoji="1" lang="ko-KR" altLang="en-US" dirty="0"/>
              <a:t>특정 명령어에 의해 발생한다 </a:t>
            </a:r>
            <a:r>
              <a:rPr kumimoji="1" lang="en-US" altLang="ko-KR" dirty="0"/>
              <a:t>=</a:t>
            </a:r>
            <a:r>
              <a:rPr kumimoji="1" lang="ko-KR" altLang="en-US" dirty="0"/>
              <a:t> </a:t>
            </a:r>
            <a:r>
              <a:rPr kumimoji="1" lang="ko-KR" altLang="en-US" dirty="0">
                <a:highlight>
                  <a:srgbClr val="FFFF00"/>
                </a:highlight>
              </a:rPr>
              <a:t>소프트웨어 인터럽트</a:t>
            </a:r>
            <a:endParaRPr kumimoji="1" lang="en-US" altLang="ko-KR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99686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B6CA0-7D4F-1110-B258-69BF6DC0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4A0B4-A8FA-FCD7-8976-2D746B60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시스템 호출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B6AC1D-7DE5-FD17-C2AD-D1449AE7A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하드디스크에 데이터 저장하는 시스템 호출로 </a:t>
            </a:r>
            <a:r>
              <a:rPr kumimoji="1" lang="ko-KR" altLang="en-US" dirty="0" err="1"/>
              <a:t>커널모드</a:t>
            </a:r>
            <a:r>
              <a:rPr kumimoji="1" lang="ko-KR" altLang="en-US" dirty="0"/>
              <a:t> 전환</a:t>
            </a:r>
            <a:endParaRPr kumimoji="1" lang="en-US" altLang="ko-KR" dirty="0"/>
          </a:p>
          <a:p>
            <a:r>
              <a:rPr kumimoji="1" lang="ko-KR" altLang="en-US" dirty="0"/>
              <a:t>하드디스크에 데이터 저장하는 코드 실행하여 하드디스크 접근</a:t>
            </a:r>
            <a:endParaRPr kumimoji="1" lang="en-US" altLang="ko-KR" dirty="0"/>
          </a:p>
          <a:p>
            <a:r>
              <a:rPr kumimoji="1" lang="ko-KR" altLang="en-US" dirty="0"/>
              <a:t>사용자모드 전환</a:t>
            </a: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7358E6D-EDF1-9932-A45A-3D4A904DE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745" y="2955235"/>
            <a:ext cx="8062968" cy="378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9967-476E-B209-7CB3-CB2682414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FFDAD9-A798-6D55-D7D2-F631D83B2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운영체제 핵심 서비스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가지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F8E0799-1244-06FA-F594-517ACC2D7478}"/>
              </a:ext>
            </a:extLst>
          </p:cNvPr>
          <p:cNvSpPr/>
          <p:nvPr/>
        </p:nvSpPr>
        <p:spPr>
          <a:xfrm>
            <a:off x="490330" y="2835965"/>
            <a:ext cx="3458818" cy="14842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 dirty="0">
                <a:solidFill>
                  <a:schemeClr val="tx1"/>
                </a:solidFill>
              </a:rPr>
              <a:t>프로세스 관리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3E85A3FE-0AD1-A4AF-0048-D2657A0ED123}"/>
              </a:ext>
            </a:extLst>
          </p:cNvPr>
          <p:cNvSpPr/>
          <p:nvPr/>
        </p:nvSpPr>
        <p:spPr>
          <a:xfrm>
            <a:off x="4366591" y="2835965"/>
            <a:ext cx="3458818" cy="14842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 dirty="0">
                <a:solidFill>
                  <a:schemeClr val="tx1"/>
                </a:solidFill>
              </a:rPr>
              <a:t>자원 접근 및 할당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50623A4-2D57-E9A6-586E-2B32530DCB5D}"/>
              </a:ext>
            </a:extLst>
          </p:cNvPr>
          <p:cNvSpPr/>
          <p:nvPr/>
        </p:nvSpPr>
        <p:spPr>
          <a:xfrm>
            <a:off x="8242852" y="2835965"/>
            <a:ext cx="3458818" cy="14842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 dirty="0">
                <a:solidFill>
                  <a:schemeClr val="tx1"/>
                </a:solidFill>
              </a:rPr>
              <a:t>파일 시스템 관리</a:t>
            </a:r>
          </a:p>
        </p:txBody>
      </p:sp>
    </p:spTree>
    <p:extLst>
      <p:ext uri="{BB962C8B-B14F-4D97-AF65-F5344CB8AC3E}">
        <p14:creationId xmlns:p14="http://schemas.microsoft.com/office/powerpoint/2010/main" val="2429368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7637E-6C92-87F0-A543-747403AF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BE9DF53-78D3-6CEE-956B-841A472C2436}"/>
              </a:ext>
            </a:extLst>
          </p:cNvPr>
          <p:cNvSpPr/>
          <p:nvPr/>
        </p:nvSpPr>
        <p:spPr>
          <a:xfrm>
            <a:off x="437321" y="357809"/>
            <a:ext cx="3458818" cy="14842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 dirty="0">
                <a:solidFill>
                  <a:schemeClr val="tx1"/>
                </a:solidFill>
              </a:rPr>
              <a:t>프로세스 관리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E51FE2CB-CF55-7E8C-3815-5DE1EFC48DB1}"/>
              </a:ext>
            </a:extLst>
          </p:cNvPr>
          <p:cNvSpPr/>
          <p:nvPr/>
        </p:nvSpPr>
        <p:spPr>
          <a:xfrm>
            <a:off x="4313582" y="357809"/>
            <a:ext cx="3458818" cy="14842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 dirty="0">
                <a:solidFill>
                  <a:schemeClr val="tx1"/>
                </a:solidFill>
              </a:rPr>
              <a:t>자원 접근 및 할당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DAF5799B-AD7F-1FEB-3C31-49B766D25F88}"/>
              </a:ext>
            </a:extLst>
          </p:cNvPr>
          <p:cNvSpPr/>
          <p:nvPr/>
        </p:nvSpPr>
        <p:spPr>
          <a:xfrm>
            <a:off x="8189843" y="357809"/>
            <a:ext cx="3458818" cy="14842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 dirty="0">
                <a:solidFill>
                  <a:schemeClr val="tx1"/>
                </a:solidFill>
              </a:rPr>
              <a:t>파일 시스템 관리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4D7573A-F47D-AD9D-4E97-A03CC4DE6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1" y="2148853"/>
            <a:ext cx="3458819" cy="4351338"/>
          </a:xfrm>
        </p:spPr>
        <p:txBody>
          <a:bodyPr>
            <a:normAutofit/>
          </a:bodyPr>
          <a:lstStyle/>
          <a:p>
            <a:r>
              <a:rPr kumimoji="1" lang="ko-KR" altLang="en-US" sz="2000" dirty="0">
                <a:highlight>
                  <a:srgbClr val="FFFF00"/>
                </a:highlight>
              </a:rPr>
              <a:t>프로세스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실행중인 프로그램</a:t>
            </a:r>
            <a:endParaRPr kumimoji="1" lang="en-US" altLang="ko-KR" sz="2000" dirty="0"/>
          </a:p>
          <a:p>
            <a:r>
              <a:rPr kumimoji="1" lang="ko-KR" altLang="en-US" sz="2000" dirty="0"/>
              <a:t>하나의 </a:t>
            </a:r>
            <a:r>
              <a:rPr kumimoji="1" lang="en-US" altLang="ko-KR" sz="2000" dirty="0"/>
              <a:t>CPU</a:t>
            </a:r>
            <a:r>
              <a:rPr kumimoji="1" lang="ko-KR" altLang="en-US" sz="2000" dirty="0"/>
              <a:t>는 하나의 프로세스만 실행 가능해서 프로세스들을 조금씩 </a:t>
            </a:r>
            <a:r>
              <a:rPr kumimoji="1" lang="ko-KR" altLang="en-US" sz="2000" dirty="0" err="1"/>
              <a:t>번갈아가며</a:t>
            </a:r>
            <a:r>
              <a:rPr kumimoji="1" lang="ko-KR" altLang="en-US" sz="2000" dirty="0"/>
              <a:t> 실행</a:t>
            </a:r>
            <a:endParaRPr kumimoji="1" lang="en-US" altLang="ko-KR" sz="2000" dirty="0"/>
          </a:p>
          <a:p>
            <a:r>
              <a:rPr kumimoji="1" lang="ko-KR" altLang="en-US" sz="2000" dirty="0"/>
              <a:t>여러 프로세스가 동시에 실행되는 환경에서 </a:t>
            </a:r>
            <a:r>
              <a:rPr kumimoji="1" lang="ko-KR" altLang="en-US" sz="2000" dirty="0">
                <a:highlight>
                  <a:srgbClr val="FFFF00"/>
                </a:highlight>
              </a:rPr>
              <a:t>프로세스 동기화</a:t>
            </a:r>
            <a:r>
              <a:rPr kumimoji="1" lang="ko-KR" altLang="en-US" sz="2000" dirty="0"/>
              <a:t>가 필수</a:t>
            </a:r>
            <a:endParaRPr kumimoji="1" lang="en-US" altLang="ko-KR" sz="2000" dirty="0"/>
          </a:p>
          <a:p>
            <a:r>
              <a:rPr kumimoji="1" lang="ko-KR" altLang="en-US" sz="2000" dirty="0"/>
              <a:t>프로세스가 </a:t>
            </a:r>
            <a:r>
              <a:rPr kumimoji="1" lang="ko-KR" altLang="en-US" sz="2000" dirty="0" err="1"/>
              <a:t>꼼짝도</a:t>
            </a:r>
            <a:r>
              <a:rPr kumimoji="1" lang="ko-KR" altLang="en-US" sz="2000" dirty="0"/>
              <a:t> 못하고 실행되지 못하는 상태인 </a:t>
            </a:r>
            <a:r>
              <a:rPr kumimoji="1" lang="ko-KR" altLang="en-US" sz="2000" dirty="0">
                <a:highlight>
                  <a:srgbClr val="FFFF00"/>
                </a:highlight>
              </a:rPr>
              <a:t>교착상태</a:t>
            </a:r>
            <a:endParaRPr kumimoji="1" lang="en-US" altLang="ko-KR" sz="2000" dirty="0">
              <a:highlight>
                <a:srgbClr val="FFFF00"/>
              </a:highlight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5C1DE8F8-D170-523A-207F-3AC336346090}"/>
              </a:ext>
            </a:extLst>
          </p:cNvPr>
          <p:cNvSpPr txBox="1">
            <a:spLocks/>
          </p:cNvSpPr>
          <p:nvPr/>
        </p:nvSpPr>
        <p:spPr>
          <a:xfrm>
            <a:off x="4313582" y="2148853"/>
            <a:ext cx="34588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2000">
                <a:highlight>
                  <a:srgbClr val="FFFF00"/>
                </a:highlight>
              </a:rPr>
              <a:t>CPU</a:t>
            </a:r>
            <a:r>
              <a:rPr kumimoji="1" lang="ko-KR" altLang="en-US" sz="2000"/>
              <a:t> 스케줄링</a:t>
            </a:r>
            <a:r>
              <a:rPr kumimoji="1" lang="en-US" altLang="ko-KR" sz="2000"/>
              <a:t>:</a:t>
            </a:r>
            <a:r>
              <a:rPr kumimoji="1" lang="ko-KR" altLang="en-US" sz="2000"/>
              <a:t> 어떤 프로세스부터</a:t>
            </a:r>
            <a:r>
              <a:rPr kumimoji="1" lang="en-US" altLang="ko-KR" sz="2000"/>
              <a:t>,</a:t>
            </a:r>
            <a:r>
              <a:rPr kumimoji="1" lang="ko-KR" altLang="en-US" sz="2000"/>
              <a:t> 얼마나 오래 </a:t>
            </a:r>
            <a:r>
              <a:rPr kumimoji="1" lang="en-US" altLang="ko-KR" sz="2000"/>
              <a:t>CPU</a:t>
            </a:r>
            <a:r>
              <a:rPr kumimoji="1" lang="ko-KR" altLang="en-US" sz="2000"/>
              <a:t>를 사용하게 할 것인지 결정하기</a:t>
            </a:r>
            <a:endParaRPr kumimoji="1" lang="en-US" altLang="ko-KR" sz="2000"/>
          </a:p>
          <a:p>
            <a:r>
              <a:rPr kumimoji="1" lang="ko-KR" altLang="en-US" sz="2000"/>
              <a:t>새로운 프로세스가 적재될때마다 어느 </a:t>
            </a:r>
            <a:r>
              <a:rPr kumimoji="1" lang="ko-KR" altLang="en-US" sz="2000">
                <a:highlight>
                  <a:srgbClr val="FFFF00"/>
                </a:highlight>
              </a:rPr>
              <a:t>메모리</a:t>
            </a:r>
            <a:r>
              <a:rPr kumimoji="1" lang="ko-KR" altLang="en-US" sz="2000"/>
              <a:t>에 할당해야할지 결정하기</a:t>
            </a:r>
            <a:endParaRPr kumimoji="1" lang="en-US" altLang="ko-KR" sz="2000"/>
          </a:p>
          <a:p>
            <a:r>
              <a:rPr kumimoji="1" lang="ko-KR" altLang="en-US" sz="2000">
                <a:highlight>
                  <a:srgbClr val="FFFF00"/>
                </a:highlight>
              </a:rPr>
              <a:t>입출력장치</a:t>
            </a:r>
            <a:r>
              <a:rPr kumimoji="1" lang="ko-KR" altLang="en-US" sz="2000"/>
              <a:t>가 </a:t>
            </a:r>
            <a:r>
              <a:rPr kumimoji="1" lang="en-US" altLang="ko-KR" sz="2000"/>
              <a:t>CPU</a:t>
            </a:r>
            <a:r>
              <a:rPr kumimoji="1" lang="ko-KR" altLang="en-US" sz="2000"/>
              <a:t>에 요청을 보내면 </a:t>
            </a:r>
            <a:r>
              <a:rPr kumimoji="1" lang="en-US" altLang="ko-KR" sz="2000"/>
              <a:t>CPU</a:t>
            </a:r>
            <a:r>
              <a:rPr kumimoji="1" lang="ko-KR" altLang="en-US" sz="2000"/>
              <a:t>는 하던 일을 백업하고 커널 영역에 있는 인터럽트 서비스 루틴 실행</a:t>
            </a:r>
            <a:endParaRPr kumimoji="1" lang="en-US" altLang="ko-KR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35E33F-EF86-394A-8EDF-55BE08F073AA}"/>
              </a:ext>
            </a:extLst>
          </p:cNvPr>
          <p:cNvSpPr txBox="1">
            <a:spLocks/>
          </p:cNvSpPr>
          <p:nvPr/>
        </p:nvSpPr>
        <p:spPr>
          <a:xfrm>
            <a:off x="8189842" y="2148853"/>
            <a:ext cx="345881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sz="2000"/>
              <a:t>파일과 폴더 관리</a:t>
            </a:r>
            <a:endParaRPr kumimoji="1"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730478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567C9-0408-B577-49E7-A443E83F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6A5D9F-362B-A264-099B-A98A012F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가상 </a:t>
            </a:r>
            <a:r>
              <a:rPr kumimoji="1" lang="ko-KR" altLang="en-US" dirty="0" err="1"/>
              <a:t>머신으로</a:t>
            </a:r>
            <a:r>
              <a:rPr kumimoji="1" lang="ko-KR" altLang="en-US" dirty="0"/>
              <a:t> 두가지 모드 동시에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10C4FC-7A8F-BC2F-78D0-097B8AE2C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가상머신으로 윈도우 운영체제</a:t>
            </a:r>
            <a:r>
              <a:rPr kumimoji="1" lang="en-US" altLang="ko-KR" dirty="0"/>
              <a:t>+</a:t>
            </a:r>
            <a:r>
              <a:rPr kumimoji="1" lang="ko-KR" altLang="en-US" dirty="0"/>
              <a:t>리눅스 운영체제</a:t>
            </a:r>
            <a:endParaRPr kumimoji="1"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49A3A0-3E00-50EC-B6BA-1C810107C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757" y="2402925"/>
            <a:ext cx="5145157" cy="408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65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372A-97C9-82EB-E6E5-AFFCC263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464A43-FC97-F70A-56AB-45D19F85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시스템 호출 종류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55D4D7-C8B0-AD98-92C7-2F81E381B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08807"/>
            <a:ext cx="7772400" cy="554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61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</TotalTime>
  <Words>206</Words>
  <Application>Microsoft Macintosh PowerPoint</Application>
  <PresentationFormat>와이드스크린</PresentationFormat>
  <Paragraphs>39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혼자 공부하는 운영체제</vt:lpstr>
      <vt:lpstr>운영체제</vt:lpstr>
      <vt:lpstr>커널</vt:lpstr>
      <vt:lpstr>사용자 인터페이스</vt:lpstr>
      <vt:lpstr>사용자 인터페이스</vt:lpstr>
      <vt:lpstr>이중 모드</vt:lpstr>
      <vt:lpstr>시스템 호출</vt:lpstr>
      <vt:lpstr>운영체제 핵심 서비스 3가지</vt:lpstr>
      <vt:lpstr>PowerPoint 프레젠테이션</vt:lpstr>
      <vt:lpstr>가상 머신으로 두가지 모드 동시에</vt:lpstr>
      <vt:lpstr>시스템 호출 종류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오승연</dc:creator>
  <cp:lastModifiedBy>오승연</cp:lastModifiedBy>
  <cp:revision>3</cp:revision>
  <dcterms:created xsi:type="dcterms:W3CDTF">2026-01-25T08:23:35Z</dcterms:created>
  <dcterms:modified xsi:type="dcterms:W3CDTF">2026-01-28T06:05:45Z</dcterms:modified>
</cp:coreProperties>
</file>