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Default Extension="emf" ContentType="image/x-emf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1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75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84" r:id="rId38"/>
    <p:sldId id="274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302" r:id="rId65"/>
    <p:sldId id="303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4" Type="http://schemas.openxmlformats.org/officeDocument/2006/relationships/slide" Target="slides/slide16.xml"></Relationship><Relationship Id="rId35" Type="http://schemas.openxmlformats.org/officeDocument/2006/relationships/slide" Target="slides/slide17.xml"></Relationship><Relationship Id="rId36" Type="http://schemas.openxmlformats.org/officeDocument/2006/relationships/slide" Target="slides/slide18.xml"></Relationship><Relationship Id="rId37" Type="http://schemas.openxmlformats.org/officeDocument/2006/relationships/slide" Target="slides/slide19.xml"></Relationship><Relationship Id="rId38" Type="http://schemas.openxmlformats.org/officeDocument/2006/relationships/slide" Target="slides/slide20.xml"></Relationship><Relationship Id="rId39" Type="http://schemas.openxmlformats.org/officeDocument/2006/relationships/slide" Target="slides/slide21.xml"></Relationship><Relationship Id="rId40" Type="http://schemas.openxmlformats.org/officeDocument/2006/relationships/slide" Target="slides/slide22.xml"></Relationship><Relationship Id="rId41" Type="http://schemas.openxmlformats.org/officeDocument/2006/relationships/slide" Target="slides/slide23.xml"></Relationship><Relationship Id="rId42" Type="http://schemas.openxmlformats.org/officeDocument/2006/relationships/slide" Target="slides/slide24.xml"></Relationship><Relationship Id="rId43" Type="http://schemas.openxmlformats.org/officeDocument/2006/relationships/slide" Target="slides/slide25.xml"></Relationship><Relationship Id="rId44" Type="http://schemas.openxmlformats.org/officeDocument/2006/relationships/slide" Target="slides/slide26.xml"></Relationship><Relationship Id="rId45" Type="http://schemas.openxmlformats.org/officeDocument/2006/relationships/slide" Target="slides/slide27.xml"></Relationship><Relationship Id="rId46" Type="http://schemas.openxmlformats.org/officeDocument/2006/relationships/slide" Target="slides/slide28.xml"></Relationship><Relationship Id="rId47" Type="http://schemas.openxmlformats.org/officeDocument/2006/relationships/slide" Target="slides/slide29.xml"></Relationship><Relationship Id="rId48" Type="http://schemas.openxmlformats.org/officeDocument/2006/relationships/slide" Target="slides/slide30.xml"></Relationship><Relationship Id="rId49" Type="http://schemas.openxmlformats.org/officeDocument/2006/relationships/slide" Target="slides/slide31.xml"></Relationship><Relationship Id="rId50" Type="http://schemas.openxmlformats.org/officeDocument/2006/relationships/slide" Target="slides/slide32.xml"></Relationship><Relationship Id="rId51" Type="http://schemas.openxmlformats.org/officeDocument/2006/relationships/slide" Target="slides/slide33.xml"></Relationship><Relationship Id="rId52" Type="http://schemas.openxmlformats.org/officeDocument/2006/relationships/slide" Target="slides/slide34.xml"></Relationship><Relationship Id="rId53" Type="http://schemas.openxmlformats.org/officeDocument/2006/relationships/slide" Target="slides/slide35.xml"></Relationship><Relationship Id="rId54" Type="http://schemas.openxmlformats.org/officeDocument/2006/relationships/slide" Target="slides/slide36.xml"></Relationship><Relationship Id="rId55" Type="http://schemas.openxmlformats.org/officeDocument/2006/relationships/slide" Target="slides/slide37.xml"></Relationship><Relationship Id="rId56" Type="http://schemas.openxmlformats.org/officeDocument/2006/relationships/slide" Target="slides/slide38.xml"></Relationship><Relationship Id="rId57" Type="http://schemas.openxmlformats.org/officeDocument/2006/relationships/slide" Target="slides/slide39.xml"></Relationship><Relationship Id="rId58" Type="http://schemas.openxmlformats.org/officeDocument/2006/relationships/slide" Target="slides/slide40.xml"></Relationship><Relationship Id="rId59" Type="http://schemas.openxmlformats.org/officeDocument/2006/relationships/slide" Target="slides/slide41.xml"></Relationship><Relationship Id="rId60" Type="http://schemas.openxmlformats.org/officeDocument/2006/relationships/slide" Target="slides/slide42.xml"></Relationship><Relationship Id="rId61" Type="http://schemas.openxmlformats.org/officeDocument/2006/relationships/slide" Target="slides/slide43.xml"></Relationship><Relationship Id="rId62" Type="http://schemas.openxmlformats.org/officeDocument/2006/relationships/slide" Target="slides/slide44.xml"></Relationship><Relationship Id="rId63" Type="http://schemas.openxmlformats.org/officeDocument/2006/relationships/slide" Target="slides/slide45.xml"></Relationship><Relationship Id="rId64" Type="http://schemas.openxmlformats.org/officeDocument/2006/relationships/slide" Target="slides/slide46.xml"></Relationship><Relationship Id="rId65" Type="http://schemas.openxmlformats.org/officeDocument/2006/relationships/slide" Target="slides/slide47.xml"></Relationship><Relationship Id="rId66" Type="http://schemas.openxmlformats.org/officeDocument/2006/relationships/slide" Target="slides/slide48.xml"></Relationship><Relationship Id="rId68" Type="http://schemas.openxmlformats.org/officeDocument/2006/relationships/viewProps" Target="viewProps.xml"></Relationship><Relationship Id="rId69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000000"/>
      <inkml:brushProperty name="fitToCurve" value="1"/>
    </inkml:brush>
  </inkml:definitions>
  <inkml:trace contextRef="#ctx0" brushRef="#br0">3324 83,'-84'-28,"0"0,-56 1,1 27,-225 27,85 29,84 28,-113 28,-139 55,140-27,-28 111,-56 280,251-168,56 28,57-139,54-29,85-27,56-1,-1 1,-27-112,0-28,-29 27,85-55,139 56,-139-56,-168-28,-28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000000"/>
      <inkml:brushProperty name="fitToCurve" value="1"/>
    </inkml:brush>
  </inkml:definitions>
  <inkml:trace contextRef="#ctx0" brushRef="#br0">307 0,'56'0,"139"83,84 29,-111 28,-84-57,-56 57,-168 28,-139-112,-140 27,195 1,169-56,55 0,0-28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000000"/>
      <inkml:brushProperty name="fitToCurve" value="1"/>
    </inkml:brush>
  </inkml:definitions>
  <inkml:trace contextRef="#ctx0" brushRef="#br0">3044 2458,'-28'28,"-111"27,-85-27,-27 0,-112 0,111-28,-55 0,28-28,-29-28,57-27,55-29,85-28,-1-83,28 55,0 28,29-55,55 55,0 29,0-1,0-28,27 28,29 1,84-1,83-56,1 57,-29 27,29-28,-29 84,113-28,-57 28,-55 0,-85 1,-27 27,-56 0,28 0,167 27,-55 29,-28 0,-57-28,-55 28,0 0,56 56,-56 27,56 57,-56 55,-28-139,0-28,0 27,0-27,-28 56,28-28,0-1,-28-27,0-28,0 0,28 0,-28 28,28-57,0 1,0 28,0 0,0 0,0-56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79375" units="cm"/>
      <inkml:brushProperty name="height" value="0.079375" units="cm"/>
      <inkml:brushProperty name="color" value="#000000"/>
      <inkml:brushProperty name="fitToCurve" value="1"/>
    </inkml:brush>
  </inkml:definitions>
  <inkml:trace contextRef="#ctx0" brushRef="#br0">4916 3938,'0'56,"-84"0,-56-28,-83 0,-29 28,-55-29,0 1,-112 0,195-28,-55 0,56 0,-57 0,57-28,-29-55,-27-29,-112 0,251 56,1-28,55 29,0-1,0-28,28 28,1 0,-29 0,56 0,-28 1,28-29,-28-28,0-28,56 29,0-1,0 0,-28-83,28 27,0 56,-28 1,28-29,-27 28,27 0,0 1,83-57,29 1,56-29,-1 0,29 1,-29-1,57 57,83-29,-28 112,280-27,-112 83,-28 0,-112 55,-83 1,-29 28,29 112,27-1,28 29,-55-29,-56 29,-57-85,-55 29,0 167,-28 0,-28 28,-84-55,-83-29,-57 0,140-111,0-56,1-57,27 1,0-28,28 28,28-56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4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60881016810.png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21351026910.png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09291039839.png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81441047759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49921056670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04011064450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32361097235.png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405941112437.png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974031123939.png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1381113364.png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26391147004.png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84521151843.png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40901162951.png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67071172123.png"></Relationship><Relationship Id="rId3" Type="http://schemas.openxmlformats.org/officeDocument/2006/relationships/image" Target="../media/fImage586501181659.png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28401206047.png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51921253304.png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44931263162.png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13381288722.png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969491306409.png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03781314324.png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96201348029.png"></Relationship><Relationship Id="rId3" Type="http://schemas.openxmlformats.org/officeDocument/2006/relationships/image" Target="../media/fImage443231355935.png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967421365010.png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01271379179.png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23381382934.png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86001406768.png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00391424700.png"></Relationship><Relationship Id="rId3" Type="http://schemas.openxmlformats.org/officeDocument/2006/relationships/image" Target="../media/fImage472861434542.png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99401461545.png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911148862.png"></Relationship><Relationship Id="rId3" Type="http://schemas.openxmlformats.org/officeDocument/2006/relationships/image" Target="../media/fImage49831506768.png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998831542068.png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1575871.png"></Relationship><Relationship Id="rId3" Type="http://schemas.openxmlformats.org/officeDocument/2006/relationships/image" Target="../media/fImage389091584696.png"></Relationship><Relationship Id="rId4" Type="http://schemas.openxmlformats.org/officeDocument/2006/relationships/image" Target="../media/fImage553621599900.png"></Relationship><Relationship Id="rId5" Type="http://schemas.openxmlformats.org/officeDocument/2006/relationships/customXml" Target="../ink/ink1.xml"></Relationship><Relationship Id="rId6" Type="http://schemas.openxmlformats.org/officeDocument/2006/relationships/image" Target="../media/fImage14761602646.emf"></Relationship><Relationship Id="rId7" Type="http://schemas.openxmlformats.org/officeDocument/2006/relationships/customXml" Target="../ink/ink2.xml"></Relationship><Relationship Id="rId8" Type="http://schemas.openxmlformats.org/officeDocument/2006/relationships/image" Target="../media/fImage9161619740.emf"></Relationship><Relationship Id="rId9" Type="http://schemas.openxmlformats.org/officeDocument/2006/relationships/customXml" Target="../ink/ink3.xml"></Relationship><Relationship Id="rId10" Type="http://schemas.openxmlformats.org/officeDocument/2006/relationships/image" Target="../media/fImage2916162663.emf"></Relationship><Relationship Id="rId11" Type="http://schemas.openxmlformats.org/officeDocument/2006/relationships/customXml" Target="../ink/ink4.xml"></Relationship><Relationship Id="rId12" Type="http://schemas.openxmlformats.org/officeDocument/2006/relationships/image" Target="../media/fImage33961636473.emf"></Relationship></Relationships>
</file>

<file path=ppt/slides/_rels/slide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44031652455.png"></Relationship></Relationships>
</file>

<file path=ppt/slides/_rels/slide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43431672749.png"></Relationship></Relationships>
</file>

<file path=ppt/slides/_rels/slide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42841695664.png"></Relationship></Relationships>
</file>

<file path=ppt/slides/_rels/slide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70021719814.png"></Relationship></Relationships>
</file>

<file path=ppt/slides/_rels/slide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54961726544.png"></Relationship><Relationship Id="rId3" Type="http://schemas.openxmlformats.org/officeDocument/2006/relationships/image" Target="../media/fImage2411217387.png"></Relationship><Relationship Id="rId4" Type="http://schemas.openxmlformats.org/officeDocument/2006/relationships/image" Target="../media/fImage235541749852.png"></Relationship></Relationships>
</file>

<file path=ppt/slides/_rels/slide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98661753983.png"></Relationship></Relationships>
</file>

<file path=ppt/slides/_rels/slide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>
                <a:latin typeface="나눔바른고딕" charset="0"/>
                <a:ea typeface="나눔바른고딕" charset="0"/>
              </a:rPr>
              <a:t>운영체제</a:t>
            </a:r>
            <a:endParaRPr lang="ko-KR" altLang="en-US">
              <a:latin typeface="나눔바른고딕" charset="0"/>
              <a:ea typeface="나눔바른고딕" charset="0"/>
            </a:endParaRP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1524000" y="3602355"/>
            <a:ext cx="9144635" cy="16560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14-2 페이징을 통한 가상 메모리 관리</a:t>
            </a:r>
            <a:endParaRPr lang="ko-KR" altLang="en-US"/>
          </a:p>
          <a:p>
            <a:pPr marL="0" indent="0">
              <a:buFontTx/>
              <a:buNone/>
            </a:pPr>
            <a:r>
              <a:rPr lang="ko-KR" altLang="en-US" sz="2400">
                <a:latin typeface="나눔바른고딕" charset="0"/>
                <a:ea typeface="나눔바른고딕" charset="0"/>
                <a:cs typeface="+mn-cs"/>
              </a:rPr>
              <a:t>14-3 페이지 교체와 프레임 할당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14-2 페이징을 통한 가상 메모리 관리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연속 메모리 할당의 문제점</a:t>
            </a:r>
            <a:endParaRPr lang="ko-KR" altLang="en-US"/>
          </a:p>
          <a:p>
            <a:pPr marL="685800" indent="-228600" lvl="1">
              <a:buFont typeface="나눔바른고딕"/>
              <a:buChar char="•"/>
            </a:pPr>
            <a:r>
              <a:rPr/>
              <a:t>외부 단편화</a:t>
            </a:r>
            <a:endParaRPr lang="ko-KR" altLang="en-US"/>
          </a:p>
          <a:p>
            <a:pPr marL="685800" indent="-228600" lvl="1">
              <a:buFont typeface="나눔바른고딕"/>
              <a:buChar char="•"/>
            </a:pPr>
            <a:r>
              <a:rPr/>
              <a:t>물리 메모리보다 큰 프로세스 실행 불가</a:t>
            </a:r>
            <a:endParaRPr lang="ko-KR" altLang="en-US"/>
          </a:p>
          <a:p>
            <a:pPr marL="457200" indent="0" lvl="1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가상메모리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실행하고자 하는 프로그램을 일부만 메모리에 적재해서 실제 물리메모리보다 큰 프로세스를 실행할 수 있게하는 기술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페이징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세그멘테이션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5" descr="/temp/fImage56088101681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405630" y="3149600"/>
            <a:ext cx="6096635" cy="25628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페이징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외부 단편화가 발생했던 근본적인 문제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=&gt;각기 다른 크기의 프로세스가 메모리에 연속적으로 할당되었기 때문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Tx/>
              <a:buNone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Tx/>
              <a:buNone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6" descr="/temp/fImage52135102691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761615" y="2865755"/>
            <a:ext cx="4553585" cy="3429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페이징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프로세스를 일정 크기로 자르고, 이를 메모리에 불연속적으로 할당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7" descr="/temp/fImage70929103983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03925" y="2660015"/>
            <a:ext cx="1438910" cy="3429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페이징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510540" y="1591310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프로세스의 논리 주소 공간을 페이지 라는 일정 단위로 자르고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메모리의 물리 주소 공간을 프레임 이라는 페이지와 동일한 일정한 단위로 자른 뒤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페이지를 프레임에 할당하는 </a:t>
            </a:r>
            <a:endParaRPr lang="ko-KR" altLang="en-US"/>
          </a:p>
          <a:p>
            <a:pPr marL="0" indent="0">
              <a:buFontTx/>
              <a:buNone/>
            </a:pPr>
            <a:r>
              <a:rPr/>
              <a:t>가상 메모리 관리 기법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8" descr="/temp/fImage118144104775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204460" y="2631440"/>
            <a:ext cx="5712460" cy="38100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페이징에서의 스와핑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페이지 단위의 스왑인, 스왑아웃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/>
              <a:t>메모리에 적재될 필요가 없는 페이지들은 보조 기억장치로 스왑 아웃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실행에 필요한 페이지들은 메모리로 스왑 인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9" descr="/temp/fImage84992105667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37080" y="3361690"/>
            <a:ext cx="7812404" cy="30518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711200"/>
            <a:ext cx="10516235" cy="54667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프로세스를 실행하기 위해 모든 페이지가 적재될 필요 없다.</a:t>
            </a:r>
            <a:endParaRPr lang="ko-KR" altLang="en-US"/>
          </a:p>
          <a:p>
            <a:pPr marL="0" indent="0">
              <a:buFontTx/>
              <a:buNone/>
            </a:pPr>
            <a:r>
              <a:rPr/>
              <a:t>==</a:t>
            </a:r>
            <a:r>
              <a:rPr/>
              <a:t> 물리</a:t>
            </a:r>
            <a:r>
              <a:rPr/>
              <a:t> </a:t>
            </a:r>
            <a:r>
              <a:rPr/>
              <a:t>메모리보다 큰 프로세스도 실행될 수 있는 것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0" descr="/temp/fImage70401106445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477135" y="2392045"/>
            <a:ext cx="7353935" cy="28797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1353185" y="2180590"/>
            <a:ext cx="9488805" cy="250063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algn="ctr">
              <a:buFontTx/>
              <a:buNone/>
            </a:pPr>
            <a:r>
              <a:rPr sz="4800">
                <a:latin typeface="+mn-lt"/>
                <a:ea typeface="+mn-ea"/>
                <a:cs typeface="+mn-cs"/>
              </a:rPr>
              <a:t>그럼 CPU 입장에서 </a:t>
            </a:r>
            <a:endParaRPr lang="ko-KR" altLang="en-US" sz="4800">
              <a:latin typeface="+mn-lt"/>
              <a:ea typeface="+mn-ea"/>
              <a:cs typeface="+mn-cs"/>
            </a:endParaRPr>
          </a:p>
          <a:p>
            <a:pPr marL="228600" indent="-228600" algn="ctr">
              <a:buFontTx/>
              <a:buNone/>
            </a:pPr>
            <a:r>
              <a:rPr sz="4800">
                <a:solidFill>
                  <a:srgbClr val="2E75B6"/>
                </a:solidFill>
                <a:latin typeface="+mn-lt"/>
                <a:ea typeface="+mn-ea"/>
                <a:cs typeface="+mn-cs"/>
              </a:rPr>
              <a:t>‘다음에 실행할 명령어 위치’</a:t>
            </a:r>
            <a:endParaRPr lang="ko-KR" altLang="en-US" sz="4800">
              <a:solidFill>
                <a:srgbClr val="2E75B6"/>
              </a:solidFill>
              <a:latin typeface="+mn-lt"/>
              <a:ea typeface="+mn-ea"/>
              <a:cs typeface="+mn-cs"/>
            </a:endParaRPr>
          </a:p>
          <a:p>
            <a:pPr marL="228600" indent="-228600" algn="ctr">
              <a:buFontTx/>
              <a:buNone/>
            </a:pPr>
            <a:r>
              <a:rPr sz="4800">
                <a:latin typeface="+mn-lt"/>
                <a:ea typeface="+mn-ea"/>
                <a:cs typeface="+mn-cs"/>
              </a:rPr>
              <a:t>를 어떻게 찾을까?</a:t>
            </a:r>
            <a:endParaRPr lang="ko-KR" altLang="en-US" sz="480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페이지 테이블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물리 주소에 불연속적으로 배치되더라도</a:t>
            </a:r>
            <a:r>
              <a:rPr/>
              <a:t>, </a:t>
            </a:r>
            <a:r>
              <a:rPr/>
              <a:t>논리 주소에는 연속적으로 배치되도록 하는 방법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b="0"/>
              <a:t>페이지 번호와 프레임 번호를 짝지어 주는 일종의 이정표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1" descr="/temp/fImage63236109723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616835" y="3258820"/>
            <a:ext cx="7054850" cy="33889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720725"/>
            <a:ext cx="10516235" cy="54571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CPU는 논리 주소를 순차적으로 실행만 하면 됨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3" descr="/temp/fImage140594111243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39595" y="1673860"/>
            <a:ext cx="8375015" cy="43275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내부 단편화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EX) 페이지 크기가 10kb, 프로세스 크기 108KB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2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KB : 내부 단편화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4" descr="/temp/fImage97403112393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964815" y="2828290"/>
            <a:ext cx="6398260" cy="364109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PTBR(페이지 테이블 베이스 레지스터)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694180"/>
            <a:ext cx="10516235" cy="448373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프로세스마다 페이지 테이블이 있고 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각 페이지 테이블은 CPU 내의 PTBR이 가리킨다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5" descr="/temp/fImage6138111336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24405" y="3062605"/>
            <a:ext cx="7943850" cy="30041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664210"/>
            <a:ext cx="10516235" cy="55137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근데 페이지 테이블이 메모리에 있으면? 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b="0"/>
              <a:t>메모리 접근 시간</a:t>
            </a:r>
            <a:r>
              <a:rPr b="0"/>
              <a:t>이</a:t>
            </a:r>
            <a:r>
              <a:rPr b="0"/>
              <a:t> 두 배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6" descr="/temp/fImage52639114700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35809" y="2477770"/>
            <a:ext cx="8319135" cy="335534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 TLB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525905"/>
            <a:ext cx="10516235" cy="465201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CPU 곁에 페이지 테이블의 캐시 메모리, 페이지 테이블의 일부를 가져와 저장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7" descr="/temp/fImage68452115184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14880" y="2686685"/>
            <a:ext cx="7756525" cy="31280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페이징에서의 주소 변환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특정 주소에 접근하고자 한다면 어떤 정보가 필요할까?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/>
              <a:t>어떤 페이지/프레임에 접근하고 싶은지,</a:t>
            </a:r>
            <a:endParaRPr lang="ko-KR" altLang="en-US"/>
          </a:p>
          <a:p>
            <a:pPr marL="685800" indent="-228600" lvl="1">
              <a:buFont typeface="나눔바른고딕"/>
              <a:buChar char="•"/>
            </a:pPr>
            <a:r>
              <a:rPr/>
              <a:t>접근하려는 주소가 그 페이지 혹은 프레임 으로부터 얼마나 떨어져 있는지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8" descr="/temp/fImage64090116295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48000" y="3335655"/>
            <a:ext cx="6096635" cy="26962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66140" y="458470"/>
            <a:ext cx="10516235" cy="55975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페이징 시스템에서의 논리 주소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&lt;페이지 번호, 변위&gt; 논리 주소 =&gt; &lt;프레임 번호, 변위&gt; 로 변환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9" descr="/temp/fImage26707117212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02765" y="907415"/>
            <a:ext cx="6096635" cy="1448435"/>
          </a:xfrm>
          <a:prstGeom prst="rect"/>
          <a:noFill/>
        </p:spPr>
      </p:pic>
      <p:pic>
        <p:nvPicPr>
          <p:cNvPr id="5" name="그림 20" descr="/temp/fImage586501181659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71675" y="3009900"/>
            <a:ext cx="8299450" cy="33762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페이지 테이블 엔트리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각각의 행을 페이지 테이블 엔트리(PTE) 라고함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페이지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번호,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프레임 번호 말고 다른 정보들도 있음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유효 비트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현재 해당 페이지에 접근 가능한지 여부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22" descr="/temp/fImage102840120604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48000" y="2561590"/>
            <a:ext cx="6096635" cy="31629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814705"/>
            <a:ext cx="10516235" cy="536321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유효비트 0인 페이지에 접근하려고 하면 </a:t>
            </a:r>
            <a:r>
              <a:rPr lang="ko-KR" altLang="en-US" sz="28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페이지 폴트(PAGE FALUT)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 라는 인터럽트 발생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24" descr="/temp/fImage55192125330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61819" y="2573020"/>
            <a:ext cx="8476615" cy="17113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보호 비트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페이지 보호 기능을 위해 존재하는 비트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25" descr="/temp/fImage10449312631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665730" y="2399030"/>
            <a:ext cx="7059295" cy="36048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27" descr="/temp/fImage101338128872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90040" y="1427480"/>
            <a:ext cx="8567420" cy="35109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참조 비트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cpu가 이 페이지에 접근한 적이 있는지 여부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5" name="그림 29" descr="/temp/fImage96949130640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31340" y="2524125"/>
            <a:ext cx="7974330" cy="358013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수정 비트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CPU가 이 페이지에 데이터를 쓴 적이 있는지 여부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30" descr="/temp/fImage80378131432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655570" y="2710815"/>
            <a:ext cx="7028815" cy="27298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603250"/>
            <a:ext cx="10516235" cy="557466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페이지가 메모리에서 사라질 때 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보조 기억장치에 </a:t>
            </a:r>
            <a:r>
              <a:rPr lang="ko-KR" altLang="en-US" sz="2800">
                <a:solidFill>
                  <a:srgbClr val="2E75B6"/>
                </a:solidFill>
                <a:latin typeface="+mn-lt"/>
                <a:ea typeface="+mn-ea"/>
                <a:cs typeface="+mn-cs"/>
              </a:rPr>
              <a:t>쓰기작업을 해야하는지 할필요가 없는지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를 판단하기 위해서 존재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32" descr="/temp/fImage3962013480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48000" y="1831975"/>
            <a:ext cx="6096635" cy="2086610"/>
          </a:xfrm>
          <a:prstGeom prst="rect"/>
          <a:noFill/>
        </p:spPr>
      </p:pic>
      <p:pic>
        <p:nvPicPr>
          <p:cNvPr id="5" name="그림 33" descr="/temp/fImage44323135593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49270" y="4105910"/>
            <a:ext cx="6096635" cy="20675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페이징의 이점 - 쓰기 시 복사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프로세스는 기본적으로 자원을 공유하지 않는다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34" descr="/temp/fImage96742136501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32330" y="2569845"/>
            <a:ext cx="7933690" cy="35553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페이징의 이점 - 쓰기 시 복사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35" descr="/temp/fImage100127137917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666365" y="2098675"/>
            <a:ext cx="6867525" cy="35433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563245"/>
            <a:ext cx="10516235" cy="561467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부모/자식 둘 중 하나가 페이지에 쓰기 작업 수행 시 해당 페이지는 별도의 공간으로 복제 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프로세스 생성 시간 절약, 메모리 절약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36" descr="/temp/fImage11233813829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51990" y="1998979"/>
            <a:ext cx="7933690" cy="367284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계층적 페이지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프로세스 테이블의 크기는 작지 않음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프로세스를 이루는 모든 페이지 테이블 엔트리를 메모리에 두는 것은 큰 낭비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38" descr="/temp/fImage58600140676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424430" y="2836545"/>
            <a:ext cx="7340600" cy="374015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754380"/>
            <a:ext cx="10516235" cy="57626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계층이 많아지면 page fault가 발생했을 때 메모리를 참조해야 하는 횟수가 그만큼 많아짐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40" descr="/temp/fImage20039142470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10030" y="288925"/>
            <a:ext cx="8798560" cy="1431925"/>
          </a:xfrm>
          <a:prstGeom prst="rect"/>
          <a:noFill/>
        </p:spPr>
      </p:pic>
      <p:pic>
        <p:nvPicPr>
          <p:cNvPr id="5" name="그림 41" descr="/temp/fImage47286143454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50695" y="1717040"/>
            <a:ext cx="8698230" cy="37039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9334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14-3 페이지 교체와 프레임 할당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151890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물리 메모리보다 큰 프로세스를 실행할 수 있기는 하지만, 물리 메모리의 크기는 명확하게 한정되어 있다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/>
              <a:t>불필요한 페이지를 선별해 보조 기억장치로 내보내고 - 페이징 교체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프로세스들에게 적절한 수의 프레임을 할당해야 - 프레임 할당</a:t>
            </a:r>
            <a:endParaRPr lang="ko-KR" altLang="en-US"/>
          </a:p>
          <a:p>
            <a:pPr marL="0" indent="0">
              <a:buFontTx/>
              <a:buNone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44" descr="/temp/fImage59940146154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566795" y="3051175"/>
            <a:ext cx="4719955" cy="35661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25463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요구 페이징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47383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처음부터 모든 페이지를 적재하지 않고 필요한 페이지만을 메모리에 적재하는 기법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/>
              <a:t>요구 페이징 시스템이 안정적으로 작동하려면 해결해야 할 문제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페이지 교체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프레임 할당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메모리가 가득 찼을 때 당장 실행에 필요한 페이지를 적재하려면 적재된 페이지를 보조 기억장치로 내보내야 하는데 이때 어떤 페이지를 내보낼까?가 </a:t>
            </a:r>
            <a:r>
              <a:rPr lang="ko-KR" altLang="en-US" sz="2800">
                <a:solidFill>
                  <a:srgbClr val="2E75B6"/>
                </a:solidFill>
                <a:latin typeface="+mn-lt"/>
                <a:ea typeface="+mn-ea"/>
                <a:cs typeface="+mn-cs"/>
              </a:rPr>
              <a:t>페이지 교체 알고리즘</a:t>
            </a:r>
            <a:endParaRPr lang="ko-KR" altLang="en-US" sz="2800">
              <a:solidFill>
                <a:srgbClr val="2E75B6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페이지 교체 알고리즘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무엇이 좋은 페이지 교체 알고리즘일까?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페이지 폴트가 적은 알고리즘! </a:t>
            </a:r>
            <a:endParaRPr lang="ko-KR" altLang="en-US"/>
          </a:p>
          <a:p>
            <a:pPr marL="1143000" indent="-228600" lvl="2">
              <a:buFont typeface="나눔바른고딕"/>
              <a:buChar char="§"/>
            </a:pPr>
            <a:r>
              <a:rPr/>
              <a:t>페이지 폴트가 발생하면 보조기억장치에 접근해야 해서 성능 저하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페이지 폴트 횟수는 어떻게 알 수 있을까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페이지 참조열 </a:t>
            </a:r>
            <a:endParaRPr lang="ko-KR" altLang="en-US"/>
          </a:p>
          <a:p>
            <a:pPr marL="1143000" indent="-228600" lvl="2">
              <a:buFont typeface="나눔바른고딕"/>
              <a:buChar char="§"/>
            </a:pPr>
            <a:r>
              <a:rPr/>
              <a:t>CPU가 참조하는 페이지들 중 연속된 페이지를 생략한 페이지 열</a:t>
            </a:r>
            <a:endParaRPr lang="ko-KR" altLang="en-US"/>
          </a:p>
        </p:txBody>
      </p:sp>
      <p:pic>
        <p:nvPicPr>
          <p:cNvPr id="4" name="그림 46" descr="/temp/fImage89111488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80135" y="4651375"/>
            <a:ext cx="4210050" cy="1191260"/>
          </a:xfrm>
          <a:prstGeom prst="rect"/>
          <a:noFill/>
        </p:spPr>
      </p:pic>
      <p:pic>
        <p:nvPicPr>
          <p:cNvPr id="5" name="그림 48" descr="/temp/fImage4983150676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616065" y="4574540"/>
            <a:ext cx="2686685" cy="1359535"/>
          </a:xfrm>
          <a:prstGeom prst="rect"/>
          <a:noFill/>
        </p:spPr>
      </p:pic>
      <p:sp>
        <p:nvSpPr>
          <p:cNvPr id="6" name="텍스트 상자 49"/>
          <p:cNvSpPr txBox="1">
            <a:spLocks/>
          </p:cNvSpPr>
          <p:nvPr/>
        </p:nvSpPr>
        <p:spPr>
          <a:xfrm rot="0">
            <a:off x="2654300" y="5842635"/>
            <a:ext cx="1740535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나눔바른고딕" charset="0"/>
                <a:ea typeface="나눔바른고딕" charset="0"/>
              </a:rPr>
              <a:t>CPU 참조 페이지</a:t>
            </a:r>
            <a:endParaRPr lang="ko-KR" altLang="en-US" sz="1800">
              <a:latin typeface="나눔바른고딕" charset="0"/>
              <a:ea typeface="나눔바른고딕" charset="0"/>
            </a:endParaRPr>
          </a:p>
        </p:txBody>
      </p:sp>
      <p:sp>
        <p:nvSpPr>
          <p:cNvPr id="7" name="텍스트 상자 50"/>
          <p:cNvSpPr txBox="1">
            <a:spLocks/>
          </p:cNvSpPr>
          <p:nvPr/>
        </p:nvSpPr>
        <p:spPr>
          <a:xfrm rot="0">
            <a:off x="7240905" y="5803900"/>
            <a:ext cx="1452880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나눔바른고딕" charset="0"/>
                <a:ea typeface="나눔바른고딕" charset="0"/>
              </a:rPr>
              <a:t>페이지 참조열</a:t>
            </a:r>
            <a:endParaRPr lang="ko-KR" altLang="en-US" sz="1800"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FIFO 페이지 교체 알고리즘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47383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가장 단순한 방식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오래 머물렀다면 나가라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52" descr="/temp/fImage99883154206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24735" y="2653030"/>
            <a:ext cx="7872730" cy="34613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2차 기회(Second-chance) 페이지 교체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참조 비트 1: CPU가 참조한 적이 있는 페이지 → 한 번 더 기회를 주</a:t>
            </a:r>
            <a:r>
              <a:rPr/>
              <a:t>기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참조 비트 0: CPU가 참조한 적이 없는 페이지 → 내쫓기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5" name="그림 54" descr="/temp/fImage653157587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6" name="그림 55" descr="/temp/fImage38909158469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80540" y="4345940"/>
            <a:ext cx="8627745" cy="1696720"/>
          </a:xfrm>
          <a:prstGeom prst="rect"/>
          <a:noFill/>
        </p:spPr>
      </p:pic>
      <p:pic>
        <p:nvPicPr>
          <p:cNvPr id="7" name="그림 56" descr="/temp/fImage553621599900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645410" y="2972435"/>
            <a:ext cx="6096635" cy="137223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잉크 57"/>
              <p14:cNvContentPartPr/>
              <p14:nvPr/>
            </p14:nvContentPartPr>
            <p14:xfrm>
              <a:off x="613410" y="3557905"/>
              <a:ext cx="1196340" cy="1276985"/>
            </p14:xfrm>
          </p:contentPart>
        </mc:Choice>
        <mc:Fallback>
          <p:pic>
            <p:nvPicPr>
              <p:cNvPr id="8" name="잉크 5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3410" y="3557905"/>
                <a:ext cx="1196340" cy="12769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잉크 58"/>
              <p14:cNvContentPartPr/>
              <p14:nvPr/>
            </p14:nvContentPartPr>
            <p14:xfrm>
              <a:off x="1066165" y="4643755"/>
              <a:ext cx="401955" cy="361950"/>
            </p14:xfrm>
          </p:contentPart>
        </mc:Choice>
        <mc:Fallback>
          <p:pic>
            <p:nvPicPr>
              <p:cNvPr id="9" name="잉크 5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6165" y="4643755"/>
                <a:ext cx="401955" cy="3619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잉크 59"/>
              <p14:cNvContentPartPr/>
              <p14:nvPr/>
            </p14:nvContentPartPr>
            <p14:xfrm>
              <a:off x="2986405" y="3306445"/>
              <a:ext cx="1156335" cy="944880"/>
            </p14:xfrm>
          </p:contentPart>
        </mc:Choice>
        <mc:Fallback>
          <p:pic>
            <p:nvPicPr>
              <p:cNvPr id="10" name="잉크 5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86405" y="3306445"/>
                <a:ext cx="1156335" cy="9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잉크 60"/>
              <p14:cNvContentPartPr/>
              <p14:nvPr/>
            </p14:nvContentPartPr>
            <p14:xfrm>
              <a:off x="8255635" y="4804410"/>
              <a:ext cx="1891030" cy="1528445"/>
            </p14:xfrm>
          </p:contentPart>
        </mc:Choice>
        <mc:Fallback>
          <p:pic>
            <p:nvPicPr>
              <p:cNvPr id="11" name="잉크 6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55635" y="4804410"/>
                <a:ext cx="1891030" cy="152844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최적 페이지 교체 알고리즘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앞으로의 사용 빈도가 가장 낮은 페이지를 교체하는 알고리즘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62" descr="/temp/fImage8440316524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00530" y="2652395"/>
            <a:ext cx="8798560" cy="352298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548765"/>
            <a:ext cx="10516235" cy="462915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가장 낮은 페이지 폴트율을 보장하는 페이지 교체 알고리즘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근데.. 실제 구현이 어려움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다른 페이지 교체 알고리즘 성능을 평가하기 위한 하한선으로 간주 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이거에 비해서 페이지 폴트가 얼마나 자주 발생</a:t>
            </a:r>
            <a:r>
              <a:rPr/>
              <a:t>하는 지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LRU(Least-Recently-Used)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가장 오래 사용되지 않’은’ 페이지 교체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64" descr="/temp/fImage104343167274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10690" y="2527300"/>
            <a:ext cx="8768080" cy="35667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프레임 할당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페이지 폴트가 자주 발생하는 이유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페이지 교체 알고리즘이 안좋아서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프로세스가 사용할 수 있는 프레임 자체가 적어서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스래싱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프로세스 실행 시간보다 페이징에 더 시간 소요하여 성능 저해되는 문제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66" descr="/temp/fImage54284169566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90370" y="2698750"/>
            <a:ext cx="8808720" cy="30937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502920"/>
            <a:ext cx="10516235" cy="567499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동시 실행 프로세스의 수 늘린다고 CPU 이용률이 높아지는 것이 아님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각 프로세스가 필요로 하는 최소한의 프레임 수를 파악하고 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프로세스들에게 적절한 프레임을 할당해주어야 한다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68" descr="/temp/fImage47002171981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744470" y="1131570"/>
            <a:ext cx="6427470" cy="3796029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프레임 할당 방식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정적 할당 방식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프로세스의 실행 과정을 고려하지 않고, 프로세스의 크기나 물리 메모리의 크기만 고려하여 할당하는 방식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동적 할당 방식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프로세스가 실행하는 과정에서 배분할 프레임 결정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정적 할당 방식 - 균등할당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모든 프로세스 들에게 균등하게 프레임을 할당하는 방식 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게임, 메모장 같은 프레임 할당하면 비합리적이겠죠?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정적 할당 방식 - 비례할당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프로세스 크기에 비례하여 프레임 할당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실제로는 실행해봐야 아는 경우가 많음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동적 할당 방식 - 작업 집합 모델 기반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작업 집합: “실행 중인 프로세스가 일정 시간 동안 참조한 페이지의 집합”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CPU가 특정 시간 동안 주로 참조한 페이지 개수만큼만 프레임을 할당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1. 프로세스가 참조한 페이지, 2. 시간 간격이 필요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Tx/>
              <a:buNone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69" descr="/temp/fImage25496172654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59230" y="814070"/>
            <a:ext cx="8557260" cy="1499870"/>
          </a:xfrm>
          <a:prstGeom prst="rect"/>
          <a:noFill/>
        </p:spPr>
      </p:pic>
      <p:pic>
        <p:nvPicPr>
          <p:cNvPr id="5" name="그림 70" descr="/temp/fImage241121738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93620" y="2466340"/>
            <a:ext cx="6606540" cy="1476375"/>
          </a:xfrm>
          <a:prstGeom prst="rect"/>
          <a:noFill/>
        </p:spPr>
      </p:pic>
      <p:pic>
        <p:nvPicPr>
          <p:cNvPr id="6" name="그림 71" descr="/temp/fImage235541749852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807970" y="4358005"/>
            <a:ext cx="6096635" cy="14008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페이지 폴트 빈도 기반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734820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+mj-lt"/>
              <a:buAutoNum type="arabicPeriod"/>
            </a:pPr>
            <a:r>
              <a:rPr/>
              <a:t>페이지 폴트율 너무 높으면 그 프로세스는 너무 적은 프레임을 갖고 있다</a:t>
            </a:r>
            <a:endParaRPr lang="ko-KR" altLang="en-US"/>
          </a:p>
          <a:p>
            <a:pPr marL="228600" indent="-228600">
              <a:buFont typeface="+mj-lt"/>
              <a:buAutoNum type="arabicPeriod"/>
            </a:pPr>
            <a:r>
              <a:rPr/>
              <a:t>페이지 폴트율 너무 낮으면 그 프로세스가 너무 많은 프레임을 갖고 있다</a:t>
            </a:r>
            <a:endParaRPr lang="ko-KR" altLang="en-US"/>
          </a:p>
          <a:p>
            <a:pPr marL="0" indent="0">
              <a:buFontTx/>
              <a:buNone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72" descr="/temp/fImage59866175398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42160" y="2960370"/>
            <a:ext cx="8436610" cy="32143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2768600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ctr"/>
            <a:r>
              <a:rPr lang="ko-KR" altLang="en-US" sz="7200">
                <a:latin typeface="+mj-lt"/>
                <a:ea typeface="+mj-ea"/>
                <a:cs typeface="+mj-cs"/>
              </a:rPr>
              <a:t>감사합니다</a:t>
            </a:r>
            <a:endParaRPr lang="ko-KR" altLang="en-US" sz="720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DocSecurity>0</DocSecurity>
  <HyperlinksChanged>false</HyperlinksChanged>
  <Lines>0</Lines>
  <LinksUpToDate>false</LinksUpToDate>
  <Pages>48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Bill Younghun Lee</cp:lastModifiedBy>
  <dc:title>PowerPoint 프레젠테이션</dc:title>
  <dcterms:modified xsi:type="dcterms:W3CDTF">2024-09-11T06:55:51Z</dcterms:modified>
</cp:coreProperties>
</file>