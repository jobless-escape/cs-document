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Default Extension="emf" ContentType="image/x-emf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0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0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2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4" Type="http://schemas.openxmlformats.org/officeDocument/2006/relationships/slide" Target="slides/slide16.xml"></Relationship><Relationship Id="rId35" Type="http://schemas.openxmlformats.org/officeDocument/2006/relationships/slide" Target="slides/slide17.xml"></Relationship><Relationship Id="rId37" Type="http://schemas.openxmlformats.org/officeDocument/2006/relationships/viewProps" Target="viewProps.xml"></Relationship><Relationship Id="rId38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000000"/>
      <inkml:brushProperty name="fitToCurve" value="1"/>
    </inkml:brush>
  </inkml:definitions>
  <inkml:trace contextRef="#ctx0" brushRef="#br0">0 24,'48'0,"0"0,24-24,24 24,24 0,-96 0,96 0,-72 0,24 0,0 0,-24 0,0 0,-24 0,-24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000000"/>
      <inkml:brushProperty name="fitToCurve" value="1"/>
    </inkml:brush>
  </inkml:definitions>
  <inkml:trace contextRef="#ctx0" brushRef="#br0">0 0,'24'0,"120"0,72 0,-120 0,24 0,-96 0,96 0,-72 0,-48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000000"/>
      <inkml:brushProperty name="fitToCurve" value="1"/>
    </inkml:brush>
  </inkml:definitions>
  <inkml:trace contextRef="#ctx0" brushRef="#br0">0 0,'24'0,"0"24,96 72,0-24,-72-48,-48 0,72 0,-72 24,0-24,72 0,-48-24,0 0,-24 24,-24 72,-24-24,-48 48,24 24,0-120,-48 97,72-97,24 24,24-24,-24-24,24 24,0-24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8234959474.png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51521009770.png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918021019420.png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232701027164.png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08811031098.pn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730871057939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306901067387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889211183.png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22601125386.png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97151133285.png"></Relationship><Relationship Id="rId3" Type="http://schemas.openxmlformats.org/officeDocument/2006/relationships/image" Target="../media/fImage114103114667.png"></Relationship><Relationship Id="rId4" Type="http://schemas.openxmlformats.org/officeDocument/2006/relationships/customXml" Target="../ink/ink1.xml"></Relationship><Relationship Id="rId5" Type="http://schemas.openxmlformats.org/officeDocument/2006/relationships/image" Target="../media/fImage9561182764.emf"></Relationship><Relationship Id="rId6" Type="http://schemas.openxmlformats.org/officeDocument/2006/relationships/customXml" Target="../ink/ink2.xml"></Relationship><Relationship Id="rId7" Type="http://schemas.openxmlformats.org/officeDocument/2006/relationships/image" Target="../media/fImage7561197675.emf"></Relationship><Relationship Id="rId8" Type="http://schemas.openxmlformats.org/officeDocument/2006/relationships/customXml" Target="../ink/ink3.xml"></Relationship><Relationship Id="rId9" Type="http://schemas.openxmlformats.org/officeDocument/2006/relationships/image" Target="../media/fImage1396120753.emf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76321213665.png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47361225705.png"></Relationship><Relationship Id="rId3" Type="http://schemas.openxmlformats.org/officeDocument/2006/relationships/image" Target="../media/fImage607021235302.png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>
                <a:latin typeface="나눔바른고딕" charset="0"/>
                <a:ea typeface="나눔바른고딕" charset="0"/>
              </a:rPr>
              <a:t>운영체제</a:t>
            </a:r>
            <a:endParaRPr lang="ko-KR" altLang="en-US">
              <a:latin typeface="나눔바른고딕" charset="0"/>
              <a:ea typeface="나눔바른고딕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10-3 스레드</a:t>
            </a:r>
            <a:endParaRPr lang="ko-KR" altLang="en-US"/>
          </a:p>
          <a:p>
            <a:pPr marL="0" indent="0">
              <a:buFontTx/>
              <a:buNone/>
            </a:pPr>
            <a:r>
              <a:rPr lang="ko-KR" altLang="en-US"/>
              <a:t>11-1 </a:t>
            </a:r>
            <a:r>
              <a:rPr lang="ko-KR" altLang="en-US"/>
              <a:t>CPU 스케줄링 개요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10-3 스레드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/>
              <a:t>프로세스를 구성하는 실행 흐름의 단위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하나의 프로세스는 하나이상의 스레드를 가질 수 있다</a:t>
            </a:r>
            <a:endParaRPr lang="ko-KR" altLang="en-US"/>
          </a:p>
        </p:txBody>
      </p:sp>
      <p:pic>
        <p:nvPicPr>
          <p:cNvPr id="4" name="그림 1" descr="/temp/fImage4823495947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316730" y="3011805"/>
            <a:ext cx="3420110" cy="34296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멀티 스레드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/>
              <a:t>실행 흐름이 여러 개인 프로세스를 멀티 스레드 프로세스라고 부름</a:t>
            </a:r>
            <a:endParaRPr lang="ko-KR" altLang="en-US"/>
          </a:p>
        </p:txBody>
      </p:sp>
      <p:pic>
        <p:nvPicPr>
          <p:cNvPr id="4" name="그림 2" descr="/temp/fImage85152100977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856990" y="2622550"/>
            <a:ext cx="4305935" cy="34296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스레드의 구성요소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4758690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스레드 ID, 프로그램 카운터를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/>
              <a:t> 비롯한 레지스터 값, 스택 등</a:t>
            </a:r>
            <a:r>
              <a:rPr/>
              <a:t> 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/>
              <a:t>“실행에 필요한 최소한의 정보”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/>
              <a:t>를 가짐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/>
              <a:t>스레드</a:t>
            </a:r>
            <a:r>
              <a:rPr/>
              <a:t>는 프로세스의 자원을 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/>
              <a:t>공유하면서 실행됨</a:t>
            </a:r>
            <a:endParaRPr lang="ko-KR" altLang="en-US" sz="25">
              <a:solidFill>
                <a:srgbClr val="EB5757"/>
              </a:solidFill>
              <a:latin typeface="SFMono-Regular" charset="0"/>
              <a:ea typeface="SFMono-Regular" charset="0"/>
            </a:endParaRPr>
          </a:p>
        </p:txBody>
      </p:sp>
      <p:pic>
        <p:nvPicPr>
          <p:cNvPr id="4" name="그림 3" descr="/temp/fImage91802101942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685790" y="780415"/>
            <a:ext cx="5498465" cy="543877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멀티 프로세스와 멀티 스레드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“동일한 작업을 수행하는 단일 스레드 프로세스 여러 개 실행”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vs “하나의 프로세스를 여러 스레드로 실행” 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Tx/>
              <a:buNone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4" descr="/temp/fImage123270102716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839085" y="2847340"/>
            <a:ext cx="6520180" cy="358775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멀티 프로세스와 멀티 스레드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프로세스를 fork하면 코드/데이터/힙 영역 등 모든 자원이 복제되어 저장됨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/>
              <a:t>저장된 메모리 주소를 제외하면 모든 것이 동일한 프로세스 두 개가 통째로 메모리에 적재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5" descr="/temp/fImage110881103109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451100" y="3572510"/>
            <a:ext cx="7296785" cy="31134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멀티 프로세스와 멀티 스레드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스레드들은 각기 다른 스레드 ID, 프로그램 카운터 값을 포함한 레지스터 값, 스택을 가질 뿐 프로세스가 가지는 자원을 공유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5" name="그림 7" descr="/temp/fImage73087105793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50695" y="2835910"/>
            <a:ext cx="8707120" cy="322707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멀티 프로세스와 멀티 스레드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하나의 스레드에 문제가 생기면 프로세스 전체에 문제가 생길 수 있다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8" descr="/temp/fImage13069010673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03170" y="2528570"/>
            <a:ext cx="7202170" cy="37941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IPC (Inter-Process-Communication)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프로세스끼리는 ‘기본적으로’ 자원을 공유하지 않지만, </a:t>
            </a:r>
            <a:r>
              <a:rPr/>
              <a:t>프로세스 간에도 자원을 주고받을 수 있다</a:t>
            </a:r>
            <a:endParaRPr lang="ko-KR" altLang="en-US"/>
          </a:p>
          <a:p>
            <a:pPr marL="228600" indent="-228600"/>
            <a:r>
              <a:rPr/>
              <a:t>→ 파일을 통한 프로세스 간 통신, 공유 메모리를 통한 프로세스 간 통신</a:t>
            </a:r>
            <a:endParaRPr lang="ko-KR" altLang="en-US"/>
          </a:p>
        </p:txBody>
      </p:sp>
      <p:pic>
        <p:nvPicPr>
          <p:cNvPr id="4" name="그림 9" descr="/temp/fImage888921118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319520" y="3348355"/>
            <a:ext cx="2858135" cy="32581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11-1 CPU 스케줄링 개요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운영체제가 프로세스들에게 합리적으로 CPU 자원을 배분하는 것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프로세스마다 우선순위가 다르기 때문에 차례로 돌아가며 배분하는건 좋지 않다</a:t>
            </a:r>
            <a:endParaRPr lang="ko-KR" altLang="en-US"/>
          </a:p>
          <a:p>
            <a:pPr marL="0" indent="0">
              <a:buFontTx/>
              <a:buNone/>
            </a:pPr>
            <a:r>
              <a:rPr sz="2800">
                <a:latin typeface="나눔바른고딕" charset="0"/>
                <a:ea typeface="나눔바른고딕" charset="0"/>
                <a:cs typeface="+mn-cs"/>
              </a:rPr>
              <a:t>          </a:t>
            </a:r>
            <a:r>
              <a:rPr sz="2800">
                <a:latin typeface="나눔바른고딕" charset="0"/>
                <a:ea typeface="나눔바른고딕" charset="0"/>
                <a:cs typeface="+mn-cs"/>
              </a:rPr>
              <a:t>ex) 입출력 작업이 많은 프로세스가 CPU 작업이 많은 프로세스의 우선순위 보다 높다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0" descr="/temp/fImage8226011253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26310" y="4115434"/>
            <a:ext cx="7383145" cy="206057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스케쥴링 큐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98525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운영체제는 프로세스들에 '줄을서서 기다릴 것’을 요구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FIFO 아님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1" descr="/temp/fImage119715113328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82320" y="2884170"/>
            <a:ext cx="5048250" cy="2980055"/>
          </a:xfrm>
          <a:prstGeom prst="rect"/>
          <a:noFill/>
        </p:spPr>
      </p:pic>
      <p:pic>
        <p:nvPicPr>
          <p:cNvPr id="5" name="그림 12" descr="/temp/fImage1141031146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338570" y="2605405"/>
            <a:ext cx="5344160" cy="342963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16"/>
              <p14:cNvContentPartPr/>
              <p14:nvPr/>
            </p14:nvContentPartPr>
            <p14:xfrm>
              <a:off x="5751830" y="3952239"/>
              <a:ext cx="302895" cy="8890"/>
            </p14:xfrm>
          </p:contentPart>
        </mc:Choice>
        <mc:Fallback>
          <p:pic>
            <p:nvPicPr>
              <p:cNvPr id="6" name="잉크 1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51830" y="3952239"/>
                <a:ext cx="302895" cy="8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17"/>
              <p14:cNvContentPartPr/>
              <p14:nvPr/>
            </p14:nvContentPartPr>
            <p14:xfrm>
              <a:off x="5786120" y="4073524"/>
              <a:ext cx="285750" cy="0"/>
            </p14:xfrm>
          </p:contentPart>
        </mc:Choice>
        <mc:Fallback>
          <p:pic>
            <p:nvPicPr>
              <p:cNvPr id="7" name="잉크 1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86120" y="4073524"/>
                <a:ext cx="28575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잉크 18"/>
              <p14:cNvContentPartPr/>
              <p14:nvPr/>
            </p14:nvContentPartPr>
            <p14:xfrm>
              <a:off x="6010910" y="3788410"/>
              <a:ext cx="190500" cy="389255"/>
            </p14:xfrm>
          </p:contentPart>
        </mc:Choice>
        <mc:Fallback>
          <p:pic>
            <p:nvPicPr>
              <p:cNvPr id="8" name="잉크 1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10910" y="3788410"/>
                <a:ext cx="190500" cy="38925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준비 큐와 대기 큐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531620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준비 큐: CPU를 이용하고 싶은 프로세스들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대기 큐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: 입출력장치를 이용하기 위해 대기 상태에 접어든 프로세스들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9" descr="/temp/fImage67632121366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441065" y="2683510"/>
            <a:ext cx="5313045" cy="371729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선점형과 비선점형 스케줄링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나눔바른고딕"/>
              <a:buChar char="•"/>
            </a:pPr>
            <a:r>
              <a:rPr/>
              <a:t>선점형 : </a:t>
            </a:r>
            <a:r>
              <a:rPr/>
              <a:t>CPU가 실행상태에 있을 때 CPU 자원을 빼앗아 다른 프로세스에 할당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비선점형 : </a:t>
            </a:r>
            <a:r>
              <a:rPr/>
              <a:t>CPU가 실행상태에 있을 때 작업이 끝날 때까지 프로세스 기다리기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20" descr="/temp/fImage64736122570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58825" y="3695700"/>
            <a:ext cx="5080000" cy="2082164"/>
          </a:xfrm>
          <a:prstGeom prst="rect"/>
          <a:noFill/>
        </p:spPr>
      </p:pic>
      <p:pic>
        <p:nvPicPr>
          <p:cNvPr id="5" name="그림 21" descr="/temp/fImage60702123530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313805" y="3594100"/>
            <a:ext cx="4940935" cy="2270125"/>
          </a:xfrm>
          <a:prstGeom prst="rect"/>
          <a:noFill/>
        </p:spPr>
      </p:pic>
      <p:sp>
        <p:nvSpPr>
          <p:cNvPr id="6" name="텍스트 상자 22"/>
          <p:cNvSpPr txBox="1">
            <a:spLocks/>
          </p:cNvSpPr>
          <p:nvPr/>
        </p:nvSpPr>
        <p:spPr>
          <a:xfrm rot="0">
            <a:off x="2421890" y="5864225"/>
            <a:ext cx="79121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나눔바른고딕" charset="0"/>
                <a:ea typeface="나눔바른고딕" charset="0"/>
              </a:rPr>
              <a:t>선점형</a:t>
            </a:r>
            <a:endParaRPr lang="ko-KR" altLang="en-US" sz="1800">
              <a:latin typeface="나눔바른고딕" charset="0"/>
              <a:ea typeface="나눔바른고딕" charset="0"/>
            </a:endParaRPr>
          </a:p>
        </p:txBody>
      </p:sp>
      <p:sp>
        <p:nvSpPr>
          <p:cNvPr id="7" name="텍스트 상자 23"/>
          <p:cNvSpPr txBox="1">
            <a:spLocks/>
          </p:cNvSpPr>
          <p:nvPr/>
        </p:nvSpPr>
        <p:spPr>
          <a:xfrm rot="0">
            <a:off x="8383904" y="5866765"/>
            <a:ext cx="994409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나눔바른고딕" charset="0"/>
                <a:ea typeface="나눔바른고딕" charset="0"/>
              </a:rPr>
              <a:t>비선점형</a:t>
            </a:r>
            <a:endParaRPr lang="ko-KR" altLang="en-US" sz="1800"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장단점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69608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Tx/>
              <a:buNone/>
            </a:pPr>
            <a:r>
              <a:rPr/>
              <a:t>- </a:t>
            </a:r>
            <a:r>
              <a:rPr/>
              <a:t>선점형</a:t>
            </a:r>
            <a:endParaRPr lang="ko-KR" altLang="en-US"/>
          </a:p>
          <a:p>
            <a:pPr marL="0" indent="0">
              <a:buFontTx/>
              <a:buNone/>
            </a:pPr>
            <a:r>
              <a:rPr/>
              <a:t>장: </a:t>
            </a:r>
            <a:r>
              <a:rPr/>
              <a:t>어느 한 프로세스의 자원 독점을 막고 프로세스들에 골고루 자원을 배분할 수 있다</a:t>
            </a:r>
            <a:endParaRPr lang="ko-KR" altLang="en-US"/>
          </a:p>
          <a:p>
            <a:pPr marL="0" indent="0">
              <a:buFontTx/>
              <a:buNone/>
            </a:pPr>
            <a:r>
              <a:rPr/>
              <a:t>단: </a:t>
            </a:r>
            <a:r>
              <a:rPr/>
              <a:t>그만큼 문맥 교환 과정에서 오버헤드가 발생할 수 있다</a:t>
            </a:r>
            <a:endParaRPr lang="ko-KR" altLang="en-US"/>
          </a:p>
          <a:p>
            <a:pPr marL="0" indent="0">
              <a:buFontTx/>
              <a:buNone/>
            </a:pPr>
            <a:endParaRPr lang="ko-KR" altLang="en-US"/>
          </a:p>
          <a:p>
            <a:pPr marL="228600" indent="-228600"/>
            <a:r>
              <a:rPr/>
              <a:t>- </a:t>
            </a:r>
            <a:r>
              <a:rPr/>
              <a:t>비선점형</a:t>
            </a:r>
            <a:endParaRPr lang="ko-KR" altLang="en-US"/>
          </a:p>
          <a:p>
            <a:pPr marL="0" indent="0">
              <a:buFontTx/>
              <a:buNone/>
            </a:pPr>
            <a:r>
              <a:rPr/>
              <a:t>장: </a:t>
            </a:r>
            <a:r>
              <a:rPr/>
              <a:t>선점형 스케줄링에 비해 문맥교환에서 발생하는 오버헤드가 적다</a:t>
            </a:r>
            <a:endParaRPr lang="ko-KR" altLang="en-US"/>
          </a:p>
          <a:p>
            <a:pPr marL="0" indent="0">
              <a:buFontTx/>
              <a:buNone/>
            </a:pPr>
            <a:r>
              <a:rPr/>
              <a:t>단: </a:t>
            </a:r>
            <a:r>
              <a:rPr/>
              <a:t>모든 프로세스가 골고루 자원을 이용하기 어렵다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WebOffice</Application>
  <AppVersion>12.000</AppVersion>
  <Characters>0</Characters>
  <CharactersWithSpaces>0</CharactersWithSpaces>
  <DocSecurity>0</DocSecurity>
  <HyperlinksChanged>false</HyperlinksChanged>
  <Lines>0</Lines>
  <LinksUpToDate>false</LinksUpToDate>
  <Pages>17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Bill Younghun Lee</cp:lastModifiedBy>
  <dc:title>PowerPoint 프레젠테이션</dc:title>
  <dcterms:modified xsi:type="dcterms:W3CDTF">2024-09-11T06:55:51Z</dcterms:modified>
</cp:coreProperties>
</file>