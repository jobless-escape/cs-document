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7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86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00" autoAdjust="0"/>
    <p:restoredTop sz="94660"/>
  </p:normalViewPr>
  <p:slideViewPr>
    <p:cSldViewPr snapToGrid="0">
      <p:cViewPr varScale="1">
        <p:scale>
          <a:sx n="60" d="100"/>
          <a:sy n="60" d="100"/>
        </p:scale>
        <p:origin x="84" y="105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AA29E0F-1CDD-7C59-E314-E44A203772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B944AA1-803C-584A-68AD-E8E6BD242EC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075B73-0787-89EF-8539-B4FDE6D64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072DC50-13BB-C78A-ACDA-425F9EC3CC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2DD567-A9C5-DDF2-C98D-204CEF4BC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01010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BD3491-10F2-C8E4-A7DC-CFEC5D60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F75562-EA8D-A827-7DE3-801E85B07C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987D259-E6DF-41B6-641D-C03DCCFD74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11F92B9-F0FF-6AAA-4983-D952AF09FE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F33AF26-61F8-7FB8-4B7B-F3B532BE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5506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BE1EAB-F780-5E56-9BF7-79977E346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F9D7C8B-4015-CE2F-A177-829A7F6A1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79E895C-712A-02EF-5E27-634F62C85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1C02DD0-22C1-C815-DF4A-62E8D9EBB9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689D90A-2BFB-72F7-192B-311A9360C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19089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DB9227-5B97-D029-771A-B7FCF32A6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3CA4C9-A39F-7243-A82F-B991FB25BB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A17D15-3A68-C571-CB1A-1F00D9573B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4A41C95-8839-F536-8071-8716ABD8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70513B4-5243-3848-8B0A-0F5522EEC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91581D0-6B40-DA3E-9BF6-0B1928287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1924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596F58-6842-F334-FDE4-D7B79E456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52B5457-A959-6040-020F-1F726DCC1F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472723E-EAA0-A2EB-0E3D-CE6AEF39E6A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DDE241A-F7CA-B7C8-8495-8ACD4C3040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E2F0EB6-B6BA-32B7-083F-4501774E45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85AE62D-E7B3-D34A-25BC-ED24B5EB74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EDA4ACE8-1FE4-C137-03A5-59C2BFB9D5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D8ADC39-5CBD-D21A-CD5B-2A56699D98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13128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E489E7-0703-FC66-DBAE-AF6827E55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246FCCD-4556-0577-0D6B-F8AAD6A08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C5EB015B-BF0B-C51B-3D39-78A5CAA0E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3E7072D6-C82C-FB12-4451-6D587FA428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690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B0E1B41-0DD6-8609-A0CD-7258C2FF6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38895C-B328-2653-84F8-4348202F3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DB30DB0-FBFD-D3BF-C4F7-10F3263E0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64792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39E8CF-504E-3F5D-0DA3-16D4357C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87C7C4-4F15-83B6-F8E4-D3F18FB39D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97E8B50-8B0A-AC7E-DB45-E30B0C5C24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621CCA5-A940-7BA7-01C0-0FA690B1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0D69590-AF9D-55C8-B79B-B455ABC142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06446F7-92C5-9F28-05F0-2EBF7E597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379921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489A24-85B0-63DB-8B4A-BCD1CDEAC4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0D4951C-C01C-A4B7-0075-2A0CCEC95C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4ECC45B-2AC2-9157-9B33-B2A4731FED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22972EA-8534-37D7-EE2D-B91039A827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5FF800-2F33-F722-A9CD-BD3231EB9D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5C3AFEF-A58F-1F0D-4064-356A29A7D8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2363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21F9D1-16F8-2443-C240-DD07ACA26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549997F-B863-361C-91AA-D3607927F3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5A44B93-291C-2CC1-0D4B-03ECF3D5E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3222BF-1B8C-2689-3157-EFFD3BEA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AD56835-A87E-F7FE-C056-8AA4BE05C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775248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AAFC9B2-96EE-A1AF-6EFE-932B46CFDC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83B04480-E75F-E850-C04E-BFB9AF926B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C22888-9C8C-7CA4-47F9-2C23680B61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8CCF780-F21E-7D78-3AD1-7FA969CAC5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08B61A2-230F-2D10-71BB-2AD47E223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985131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D3A310-8452-66CD-C1F2-3DADE5BAB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56B1859-7534-69A3-B777-503F5315C1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5BAB0F-DADE-6C2D-33C0-4E9549FB41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33880D8-AA22-4B43-9E14-5D0B19691575}" type="datetimeFigureOut">
              <a:rPr lang="ko-KR" altLang="en-US" smtClean="0"/>
              <a:t>2026-01-21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DCBB1F2-9F46-978D-580E-4C0FD6E898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E495CF-B83B-2C57-4C61-5BCBC7463A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9E8F1C-CBD1-4940-8BE4-24D8878F03E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3450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C8FC62-7B9A-8CD4-5CDB-6AE160C5B7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혼자 공부하는 네트워크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7486CCA-8682-1F13-B7AC-BF86A697735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4-2 TCP</a:t>
            </a:r>
            <a:r>
              <a:rPr lang="ko-KR" altLang="en-US" dirty="0"/>
              <a:t>와 </a:t>
            </a:r>
            <a:r>
              <a:rPr lang="en-US" altLang="ko-KR" dirty="0"/>
              <a:t>UDP</a:t>
            </a:r>
          </a:p>
          <a:p>
            <a:pPr algn="r"/>
            <a:r>
              <a:rPr lang="en-US" altLang="ko-KR" dirty="0"/>
              <a:t>4-3 TCP</a:t>
            </a:r>
            <a:r>
              <a:rPr lang="ko-KR" altLang="en-US" dirty="0"/>
              <a:t>의 오류</a:t>
            </a:r>
            <a:r>
              <a:rPr lang="en-US" altLang="ko-KR" dirty="0"/>
              <a:t>/</a:t>
            </a:r>
            <a:r>
              <a:rPr lang="ko-KR" altLang="en-US" dirty="0"/>
              <a:t>흐름</a:t>
            </a:r>
            <a:r>
              <a:rPr lang="en-US" altLang="ko-KR" dirty="0"/>
              <a:t>/</a:t>
            </a:r>
            <a:r>
              <a:rPr lang="ko-KR" altLang="en-US" dirty="0"/>
              <a:t>혼잡 제어</a:t>
            </a:r>
          </a:p>
        </p:txBody>
      </p:sp>
    </p:spTree>
    <p:extLst>
      <p:ext uri="{BB962C8B-B14F-4D97-AF65-F5344CB8AC3E}">
        <p14:creationId xmlns:p14="http://schemas.microsoft.com/office/powerpoint/2010/main" val="32086293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722D2D9-C6E0-967E-BB5F-DFE8674AFC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11550" y="605440"/>
            <a:ext cx="4568899" cy="5485457"/>
          </a:xfrm>
          <a:prstGeom prst="rect">
            <a:avLst/>
          </a:prstGeom>
        </p:spPr>
      </p:pic>
      <p:sp>
        <p:nvSpPr>
          <p:cNvPr id="4" name="액자 3">
            <a:extLst>
              <a:ext uri="{FF2B5EF4-FFF2-40B4-BE49-F238E27FC236}">
                <a16:creationId xmlns:a16="http://schemas.microsoft.com/office/drawing/2014/main" id="{61CC9277-5FFE-B944-3E66-3ED9BD220BAB}"/>
              </a:ext>
            </a:extLst>
          </p:cNvPr>
          <p:cNvSpPr/>
          <p:nvPr/>
        </p:nvSpPr>
        <p:spPr>
          <a:xfrm>
            <a:off x="3537527" y="3168073"/>
            <a:ext cx="5209309" cy="831272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05653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703F70-6E65-2FC6-8BC8-1D5537F198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</a:t>
            </a:r>
            <a:r>
              <a:rPr lang="ko-KR" altLang="en-US" dirty="0"/>
              <a:t>와 </a:t>
            </a:r>
            <a:r>
              <a:rPr lang="en-US" altLang="ko-KR" dirty="0"/>
              <a:t>UDP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7E43C5-0C37-CF38-0725-F6F709EB65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ighlight>
                  <a:srgbClr val="FFFF00"/>
                </a:highlight>
              </a:rPr>
              <a:t>TCP</a:t>
            </a:r>
            <a:r>
              <a:rPr lang="en-US" altLang="ko-KR" dirty="0"/>
              <a:t>: </a:t>
            </a:r>
            <a:r>
              <a:rPr lang="ko-KR" altLang="en-US" dirty="0"/>
              <a:t>신뢰할 수 있는 통신을 위한 연결형 프로토콜</a:t>
            </a:r>
            <a:endParaRPr lang="en-US" altLang="ko-KR" dirty="0"/>
          </a:p>
          <a:p>
            <a:r>
              <a:rPr lang="en-US" altLang="ko-KR" dirty="0">
                <a:highlight>
                  <a:srgbClr val="FFFF00"/>
                </a:highlight>
              </a:rPr>
              <a:t>UDP</a:t>
            </a:r>
            <a:r>
              <a:rPr lang="en-US" altLang="ko-KR" dirty="0"/>
              <a:t>: TCP</a:t>
            </a:r>
            <a:r>
              <a:rPr lang="ko-KR" altLang="en-US" dirty="0"/>
              <a:t>보다 신뢰성은 떨어지지만 빠른 통신이 가능한 비연결형 프로토콜</a:t>
            </a:r>
          </a:p>
        </p:txBody>
      </p:sp>
      <p:pic>
        <p:nvPicPr>
          <p:cNvPr id="7" name="그림 6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880D63-30AF-87EC-D81E-999A69BD74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4542" y="3777186"/>
            <a:ext cx="8782855" cy="23106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4291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B6C834-71E4-B69A-9898-183845C67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479BA9-1674-4A06-A7E2-DC88D80B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연결 수립</a:t>
            </a:r>
            <a:r>
              <a:rPr lang="en-US" altLang="ko-KR" dirty="0"/>
              <a:t>/</a:t>
            </a:r>
            <a:r>
              <a:rPr lang="ko-KR" altLang="en-US" dirty="0"/>
              <a:t>종료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3847AE4-1E18-D531-7FA4-B7ABB0F9C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highlight>
                  <a:srgbClr val="FFFF00"/>
                </a:highlight>
              </a:rPr>
              <a:t>MSS: </a:t>
            </a:r>
            <a:r>
              <a:rPr lang="en-US" altLang="ko-KR" dirty="0"/>
              <a:t>TCP</a:t>
            </a:r>
            <a:r>
              <a:rPr lang="ko-KR" altLang="en-US" dirty="0"/>
              <a:t>로 전송할 수 있는 최대 페이로드 크기</a:t>
            </a:r>
            <a:endParaRPr lang="en-US" altLang="ko-KR" dirty="0"/>
          </a:p>
        </p:txBody>
      </p:sp>
      <p:pic>
        <p:nvPicPr>
          <p:cNvPr id="5" name="그림 4" descr="텍스트, 라인, 스크린샷, 도표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02E454F-7478-176F-998C-3FD2E8C5AE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418" y="2819400"/>
            <a:ext cx="9271163" cy="2747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68067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15A5-4379-78F7-9020-C8DE472DAE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0BE02D-254B-4866-D241-A32CF4869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세그먼트 구조</a:t>
            </a:r>
          </a:p>
        </p:txBody>
      </p:sp>
      <p:pic>
        <p:nvPicPr>
          <p:cNvPr id="8" name="그림 7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3040A06-5666-B122-883E-3AC4FF96F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7" y="1690688"/>
            <a:ext cx="6330762" cy="4551870"/>
          </a:xfrm>
          <a:prstGeom prst="rect">
            <a:avLst/>
          </a:prstGeom>
        </p:spPr>
      </p:pic>
      <p:pic>
        <p:nvPicPr>
          <p:cNvPr id="10" name="그림 9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0144AB7-8BFC-4DF4-24DD-BBCD46391D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1710" y="3016251"/>
            <a:ext cx="5538223" cy="2490236"/>
          </a:xfrm>
          <a:prstGeom prst="rect">
            <a:avLst/>
          </a:prstGeom>
        </p:spPr>
      </p:pic>
      <p:sp>
        <p:nvSpPr>
          <p:cNvPr id="11" name="직사각형 10">
            <a:extLst>
              <a:ext uri="{FF2B5EF4-FFF2-40B4-BE49-F238E27FC236}">
                <a16:creationId xmlns:a16="http://schemas.microsoft.com/office/drawing/2014/main" id="{CF6CF9D9-801C-89CC-0650-CDF24CCBACF7}"/>
              </a:ext>
            </a:extLst>
          </p:cNvPr>
          <p:cNvSpPr/>
          <p:nvPr/>
        </p:nvSpPr>
        <p:spPr>
          <a:xfrm>
            <a:off x="6441710" y="3545305"/>
            <a:ext cx="5538223" cy="14598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6339F29-9442-0750-0114-3275D8093CD1}"/>
              </a:ext>
            </a:extLst>
          </p:cNvPr>
          <p:cNvSpPr/>
          <p:nvPr/>
        </p:nvSpPr>
        <p:spPr>
          <a:xfrm>
            <a:off x="3112974" y="5144607"/>
            <a:ext cx="672964" cy="69471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077EB11-9FBE-5C0A-0E91-42DAF02D3E7D}"/>
              </a:ext>
            </a:extLst>
          </p:cNvPr>
          <p:cNvSpPr/>
          <p:nvPr/>
        </p:nvSpPr>
        <p:spPr>
          <a:xfrm>
            <a:off x="4827901" y="5171357"/>
            <a:ext cx="1155804" cy="69471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78636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1AAC7D-53FB-9970-5858-C44DF37E75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FFA460-CCA5-22A6-5E51-2ECC155BC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- </a:t>
            </a:r>
            <a:r>
              <a:rPr lang="ko-KR" altLang="en-US" dirty="0"/>
              <a:t>제어비트</a:t>
            </a:r>
          </a:p>
        </p:txBody>
      </p:sp>
      <p:pic>
        <p:nvPicPr>
          <p:cNvPr id="8" name="그림 7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1EDC163-A132-9ADF-782C-B16C4D45A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7" y="1690688"/>
            <a:ext cx="6330762" cy="4551870"/>
          </a:xfrm>
          <a:prstGeom prst="rect">
            <a:avLst/>
          </a:prstGeom>
        </p:spPr>
      </p:pic>
      <p:sp>
        <p:nvSpPr>
          <p:cNvPr id="12" name="직사각형 11">
            <a:extLst>
              <a:ext uri="{FF2B5EF4-FFF2-40B4-BE49-F238E27FC236}">
                <a16:creationId xmlns:a16="http://schemas.microsoft.com/office/drawing/2014/main" id="{7ABDA0D1-934C-108D-7614-4E910779DE71}"/>
              </a:ext>
            </a:extLst>
          </p:cNvPr>
          <p:cNvSpPr/>
          <p:nvPr/>
        </p:nvSpPr>
        <p:spPr>
          <a:xfrm>
            <a:off x="3112974" y="5144607"/>
            <a:ext cx="672964" cy="69471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5C265908-8772-8E33-9B43-0DCC8126E525}"/>
              </a:ext>
            </a:extLst>
          </p:cNvPr>
          <p:cNvSpPr/>
          <p:nvPr/>
        </p:nvSpPr>
        <p:spPr>
          <a:xfrm>
            <a:off x="4827901" y="5171357"/>
            <a:ext cx="1155804" cy="694719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 descr="텍스트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C89F659-65F8-5CA4-BAB4-BBEDF19565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5295" y="2855495"/>
            <a:ext cx="4940967" cy="1572126"/>
          </a:xfrm>
          <a:prstGeom prst="rect">
            <a:avLst/>
          </a:prstGeom>
        </p:spPr>
      </p:pic>
      <p:sp>
        <p:nvSpPr>
          <p:cNvPr id="5" name="액자 4">
            <a:extLst>
              <a:ext uri="{FF2B5EF4-FFF2-40B4-BE49-F238E27FC236}">
                <a16:creationId xmlns:a16="http://schemas.microsoft.com/office/drawing/2014/main" id="{B2A86760-1F35-BB45-933F-4DDD157166AC}"/>
              </a:ext>
            </a:extLst>
          </p:cNvPr>
          <p:cNvSpPr/>
          <p:nvPr/>
        </p:nvSpPr>
        <p:spPr>
          <a:xfrm>
            <a:off x="2077696" y="3429000"/>
            <a:ext cx="1355315" cy="501316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430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097F14-B125-28E3-A9DB-A6A58AF256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9A723-25DC-7A24-62C5-8C829FE1D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- </a:t>
            </a:r>
            <a:r>
              <a:rPr lang="ko-KR" altLang="en-US" dirty="0"/>
              <a:t>순서 번호</a:t>
            </a:r>
          </a:p>
        </p:txBody>
      </p:sp>
      <p:pic>
        <p:nvPicPr>
          <p:cNvPr id="8" name="그림 7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D36FD40-2551-A21B-D075-09CE07AAE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7" y="1690688"/>
            <a:ext cx="6330762" cy="4551870"/>
          </a:xfrm>
          <a:prstGeom prst="rect">
            <a:avLst/>
          </a:prstGeom>
        </p:spPr>
      </p:pic>
      <p:sp>
        <p:nvSpPr>
          <p:cNvPr id="3" name="액자 2">
            <a:extLst>
              <a:ext uri="{FF2B5EF4-FFF2-40B4-BE49-F238E27FC236}">
                <a16:creationId xmlns:a16="http://schemas.microsoft.com/office/drawing/2014/main" id="{53E80FC4-6390-2537-CE76-3AE7BF8DEC9F}"/>
              </a:ext>
            </a:extLst>
          </p:cNvPr>
          <p:cNvSpPr/>
          <p:nvPr/>
        </p:nvSpPr>
        <p:spPr>
          <a:xfrm>
            <a:off x="562058" y="2743200"/>
            <a:ext cx="5630779" cy="411414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그림 5" descr="텍스트, 폰트, 라인, 직사각형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FC59AD9-07F4-4C70-8DF0-A9EE854AEE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2669" y="885713"/>
            <a:ext cx="4953691" cy="160995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4DEF699-10EC-FA3B-1BEA-C6DA2E4FA019}"/>
              </a:ext>
            </a:extLst>
          </p:cNvPr>
          <p:cNvSpPr txBox="1"/>
          <p:nvPr/>
        </p:nvSpPr>
        <p:spPr>
          <a:xfrm>
            <a:off x="167790" y="6189890"/>
            <a:ext cx="120500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순서 번호</a:t>
            </a:r>
            <a:r>
              <a:rPr lang="en-US" altLang="ko-KR" dirty="0"/>
              <a:t>: </a:t>
            </a:r>
            <a:r>
              <a:rPr lang="ko-KR" altLang="en-US" dirty="0"/>
              <a:t>세그먼트의 올바른 송수신 순서를 보장하기 위한 번호로</a:t>
            </a:r>
            <a:r>
              <a:rPr lang="en-US" altLang="ko-KR" dirty="0"/>
              <a:t>, </a:t>
            </a:r>
            <a:r>
              <a:rPr lang="ko-KR" altLang="en-US" dirty="0"/>
              <a:t>세그먼트 데이터의 첫 바이트에 부여되는 번호</a:t>
            </a:r>
          </a:p>
        </p:txBody>
      </p:sp>
      <p:pic>
        <p:nvPicPr>
          <p:cNvPr id="18" name="그림 17" descr="텍스트, 폰트, 라인, 친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079302-358D-A365-DFE1-22B012AF747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18879" y="3209280"/>
            <a:ext cx="4801270" cy="1514686"/>
          </a:xfrm>
          <a:prstGeom prst="rect">
            <a:avLst/>
          </a:prstGeom>
        </p:spPr>
      </p:pic>
      <p:sp>
        <p:nvSpPr>
          <p:cNvPr id="19" name="화살표: 아래쪽 18">
            <a:extLst>
              <a:ext uri="{FF2B5EF4-FFF2-40B4-BE49-F238E27FC236}">
                <a16:creationId xmlns:a16="http://schemas.microsoft.com/office/drawing/2014/main" id="{E2D5F984-D05B-2AED-00F9-1D8D35BC8D09}"/>
              </a:ext>
            </a:extLst>
          </p:cNvPr>
          <p:cNvSpPr/>
          <p:nvPr/>
        </p:nvSpPr>
        <p:spPr>
          <a:xfrm>
            <a:off x="10587789" y="2165684"/>
            <a:ext cx="497306" cy="850567"/>
          </a:xfrm>
          <a:prstGeom prst="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8230D11-C477-DC21-FB05-99024A8374D8}"/>
              </a:ext>
            </a:extLst>
          </p:cNvPr>
          <p:cNvSpPr txBox="1"/>
          <p:nvPr/>
        </p:nvSpPr>
        <p:spPr>
          <a:xfrm>
            <a:off x="7300559" y="5113930"/>
            <a:ext cx="38379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초기 순서 번호 </a:t>
            </a:r>
            <a:r>
              <a:rPr lang="en-US" altLang="ko-KR" b="1" dirty="0"/>
              <a:t>+ </a:t>
            </a:r>
            <a:r>
              <a:rPr lang="ko-KR" altLang="en-US" b="1" dirty="0"/>
              <a:t>송신한 바이트 수</a:t>
            </a:r>
          </a:p>
        </p:txBody>
      </p:sp>
    </p:spTree>
    <p:extLst>
      <p:ext uri="{BB962C8B-B14F-4D97-AF65-F5344CB8AC3E}">
        <p14:creationId xmlns:p14="http://schemas.microsoft.com/office/powerpoint/2010/main" val="29141138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C54CD-998F-9291-93DC-765B12B913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D1F719-F826-CCDA-B993-F8322AE1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 </a:t>
            </a:r>
            <a:r>
              <a:rPr lang="ko-KR" altLang="en-US" dirty="0"/>
              <a:t>확인 응답 번호</a:t>
            </a:r>
          </a:p>
        </p:txBody>
      </p:sp>
      <p:pic>
        <p:nvPicPr>
          <p:cNvPr id="8" name="그림 7" descr="텍스트, 폰트, 번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01FFB-737A-F962-7F58-C47A2B3A56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2067" y="1690688"/>
            <a:ext cx="6330762" cy="4551870"/>
          </a:xfrm>
          <a:prstGeom prst="rect">
            <a:avLst/>
          </a:prstGeom>
        </p:spPr>
      </p:pic>
      <p:sp>
        <p:nvSpPr>
          <p:cNvPr id="3" name="액자 2">
            <a:extLst>
              <a:ext uri="{FF2B5EF4-FFF2-40B4-BE49-F238E27FC236}">
                <a16:creationId xmlns:a16="http://schemas.microsoft.com/office/drawing/2014/main" id="{FB4DA7E1-7BDF-75D0-5D9C-6353BE7F9F83}"/>
              </a:ext>
            </a:extLst>
          </p:cNvPr>
          <p:cNvSpPr/>
          <p:nvPr/>
        </p:nvSpPr>
        <p:spPr>
          <a:xfrm>
            <a:off x="674353" y="3016251"/>
            <a:ext cx="5630779" cy="529053"/>
          </a:xfrm>
          <a:prstGeom prst="fram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0C967E1-8AFC-15C0-C1AC-920E080B4D50}"/>
              </a:ext>
            </a:extLst>
          </p:cNvPr>
          <p:cNvSpPr txBox="1"/>
          <p:nvPr/>
        </p:nvSpPr>
        <p:spPr>
          <a:xfrm>
            <a:off x="1306868" y="6207195"/>
            <a:ext cx="95782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순서 번호</a:t>
            </a:r>
            <a:r>
              <a:rPr lang="en-US" altLang="ko-KR" dirty="0"/>
              <a:t>: </a:t>
            </a:r>
            <a:r>
              <a:rPr lang="ko-KR" altLang="en-US" dirty="0"/>
              <a:t>순서 번호에 대한 응답으로</a:t>
            </a:r>
            <a:r>
              <a:rPr lang="en-US" altLang="ko-KR" dirty="0"/>
              <a:t>, </a:t>
            </a:r>
            <a:r>
              <a:rPr lang="ko-KR" altLang="en-US" dirty="0"/>
              <a:t>수신 호스트가 다음으로 받기를 희망하는 순서 번호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E7008C-AE6A-294D-B387-90FF935292D0}"/>
              </a:ext>
            </a:extLst>
          </p:cNvPr>
          <p:cNvSpPr txBox="1"/>
          <p:nvPr/>
        </p:nvSpPr>
        <p:spPr>
          <a:xfrm>
            <a:off x="7300559" y="5113930"/>
            <a:ext cx="2427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수신한 순서 번호 </a:t>
            </a:r>
            <a:r>
              <a:rPr lang="en-US" altLang="ko-KR" b="1" dirty="0"/>
              <a:t>+ 1</a:t>
            </a:r>
            <a:endParaRPr lang="ko-KR" altLang="en-US" b="1" dirty="0"/>
          </a:p>
        </p:txBody>
      </p:sp>
      <p:pic>
        <p:nvPicPr>
          <p:cNvPr id="5" name="그림 4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630FC05-7066-0DC7-8F7F-CDFC5E9FBE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9653" y="1839991"/>
            <a:ext cx="4277322" cy="312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91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CC4F20-E7C9-FB68-4E65-33CC87628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E1CBEFA-5E49-B560-52F0-6A549362F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 </a:t>
            </a:r>
            <a:r>
              <a:rPr lang="ko-KR" altLang="en-US" dirty="0"/>
              <a:t>연결 수립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22AC3B0-A64D-6B62-512A-831D9CA7A0EB}"/>
              </a:ext>
            </a:extLst>
          </p:cNvPr>
          <p:cNvSpPr txBox="1"/>
          <p:nvPr/>
        </p:nvSpPr>
        <p:spPr>
          <a:xfrm>
            <a:off x="2221268" y="5407943"/>
            <a:ext cx="770595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쓰리 웨이 </a:t>
            </a:r>
            <a:r>
              <a:rPr lang="ko-KR" altLang="en-US" dirty="0" err="1">
                <a:highlight>
                  <a:srgbClr val="FFFF00"/>
                </a:highlight>
              </a:rPr>
              <a:t>핸드셰이크</a:t>
            </a:r>
            <a:r>
              <a:rPr lang="en-US" altLang="ko-KR" dirty="0"/>
              <a:t>: </a:t>
            </a:r>
            <a:r>
              <a:rPr lang="ko-KR" altLang="en-US" dirty="0"/>
              <a:t>세 개의 단계로 이루어진 </a:t>
            </a:r>
            <a:r>
              <a:rPr lang="en-US" altLang="ko-KR" dirty="0"/>
              <a:t>TCP </a:t>
            </a:r>
            <a:r>
              <a:rPr lang="ko-KR" altLang="en-US" dirty="0"/>
              <a:t>연결 수립 과정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액티브 오픈</a:t>
            </a:r>
            <a:r>
              <a:rPr lang="en-US" altLang="ko-KR" dirty="0"/>
              <a:t>: </a:t>
            </a:r>
            <a:r>
              <a:rPr lang="ko-KR" altLang="en-US" dirty="0"/>
              <a:t>처음 연결을 시작하는 호스트의 연결 수립 과정</a:t>
            </a:r>
            <a:r>
              <a:rPr lang="en-US" altLang="ko-KR" dirty="0"/>
              <a:t>.(</a:t>
            </a:r>
            <a:r>
              <a:rPr lang="ko-KR" altLang="en-US" dirty="0"/>
              <a:t>클라이언트</a:t>
            </a:r>
            <a:r>
              <a:rPr lang="en-US" altLang="ko-KR" dirty="0"/>
              <a:t>)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패시브 오픈</a:t>
            </a:r>
            <a:r>
              <a:rPr lang="en-US" altLang="ko-KR" dirty="0"/>
              <a:t>: </a:t>
            </a:r>
            <a:r>
              <a:rPr lang="ko-KR" altLang="en-US" dirty="0"/>
              <a:t>연결 요청을 받고 나서 연결을 수립해 주는 호스트</a:t>
            </a:r>
            <a:r>
              <a:rPr lang="en-US" altLang="ko-KR" dirty="0"/>
              <a:t>.(</a:t>
            </a:r>
            <a:r>
              <a:rPr lang="ko-KR" altLang="en-US" dirty="0"/>
              <a:t>서버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11" name="그림 10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18C466-6CEC-05C9-D214-A34E525B88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2705" y="1699971"/>
            <a:ext cx="6906589" cy="3458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8734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5E7517-2970-FD35-EA9A-D10468740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26596-1014-D414-E14E-9E6BF4E7E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 </a:t>
            </a:r>
            <a:r>
              <a:rPr lang="ko-KR" altLang="en-US" dirty="0"/>
              <a:t>연결 종료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FE288D-8EBF-6406-CF32-98F61D7FF57B}"/>
              </a:ext>
            </a:extLst>
          </p:cNvPr>
          <p:cNvSpPr txBox="1"/>
          <p:nvPr/>
        </p:nvSpPr>
        <p:spPr>
          <a:xfrm>
            <a:off x="2221268" y="5407943"/>
            <a:ext cx="689163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액티브 </a:t>
            </a:r>
            <a:r>
              <a:rPr lang="ko-KR" altLang="en-US" dirty="0" err="1">
                <a:highlight>
                  <a:srgbClr val="FFFF00"/>
                </a:highlight>
              </a:rPr>
              <a:t>클로즈</a:t>
            </a:r>
            <a:r>
              <a:rPr lang="en-US" altLang="ko-KR" dirty="0"/>
              <a:t>: </a:t>
            </a:r>
            <a:r>
              <a:rPr lang="ko-KR" altLang="en-US" dirty="0"/>
              <a:t>먼저 연결을 종료하려는 호스트에 의해 수행</a:t>
            </a:r>
            <a:r>
              <a:rPr lang="en-US" altLang="ko-KR" dirty="0"/>
              <a:t>.</a:t>
            </a:r>
          </a:p>
          <a:p>
            <a:r>
              <a:rPr lang="ko-KR" altLang="en-US" dirty="0">
                <a:highlight>
                  <a:srgbClr val="FFFF00"/>
                </a:highlight>
              </a:rPr>
              <a:t>패시브 </a:t>
            </a:r>
            <a:r>
              <a:rPr lang="ko-KR" altLang="en-US" dirty="0" err="1">
                <a:highlight>
                  <a:srgbClr val="FFFF00"/>
                </a:highlight>
              </a:rPr>
              <a:t>클로즈</a:t>
            </a:r>
            <a:r>
              <a:rPr lang="en-US" altLang="ko-KR" dirty="0"/>
              <a:t>: </a:t>
            </a:r>
            <a:r>
              <a:rPr lang="ko-KR" altLang="en-US" dirty="0"/>
              <a:t>연결 종료 요청을 받아들이는 호스트에 의해 수행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5" name="그림 4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758883-C0E0-7F1A-23E8-1C35A47CD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0337" y="1595181"/>
            <a:ext cx="6811326" cy="3667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85119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00268-58CB-179F-97EF-99DB95E15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BCC4D-FCC6-CBAD-3EBD-46BE71049F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상태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1080F7-A347-A53D-128F-40F896459BAC}"/>
              </a:ext>
            </a:extLst>
          </p:cNvPr>
          <p:cNvSpPr txBox="1"/>
          <p:nvPr/>
        </p:nvSpPr>
        <p:spPr>
          <a:xfrm>
            <a:off x="2959205" y="4349165"/>
            <a:ext cx="5774338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highlight>
                  <a:srgbClr val="FFFF00"/>
                </a:highlight>
              </a:rPr>
              <a:t>상태</a:t>
            </a:r>
            <a:r>
              <a:rPr lang="en-US" altLang="ko-KR" dirty="0"/>
              <a:t>: </a:t>
            </a:r>
            <a:r>
              <a:rPr lang="ko-KR" altLang="en-US" dirty="0"/>
              <a:t>현재 어떤 통신 과정에 있는지를 나타내는 정보</a:t>
            </a:r>
            <a:r>
              <a:rPr lang="en-US" altLang="ko-KR" dirty="0"/>
              <a:t>.</a:t>
            </a:r>
          </a:p>
          <a:p>
            <a:r>
              <a:rPr lang="ko-KR" altLang="en-US" dirty="0" err="1">
                <a:highlight>
                  <a:srgbClr val="FFFF00"/>
                </a:highlight>
              </a:rPr>
              <a:t>스테이트풀</a:t>
            </a:r>
            <a:r>
              <a:rPr lang="ko-KR" altLang="en-US" dirty="0"/>
              <a:t> 프로토콜</a:t>
            </a:r>
            <a:r>
              <a:rPr lang="en-US" altLang="ko-KR" dirty="0"/>
              <a:t>: </a:t>
            </a:r>
            <a:r>
              <a:rPr lang="ko-KR" altLang="en-US" dirty="0"/>
              <a:t>상태를 유지하고 활용한다는 뜻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연결 안된 상태</a:t>
            </a: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연결 과정에서 볼 수 있는 상태</a:t>
            </a:r>
            <a:endParaRPr lang="en-US" altLang="ko-KR" dirty="0"/>
          </a:p>
          <a:p>
            <a:pPr marL="342900" indent="-342900">
              <a:buAutoNum type="arabicParenBoth"/>
            </a:pPr>
            <a:r>
              <a:rPr lang="ko-KR" altLang="en-US" dirty="0"/>
              <a:t>연결 종료 과정에서 볼 수 있는 상태</a:t>
            </a: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B5816D-71C1-E3C0-60D6-9207249F0D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8390" y="1876336"/>
            <a:ext cx="9748645" cy="20379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275594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9E201-116B-9C85-A3CC-7463BA30EC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0067ED-0566-F343-E59E-AA8BDCC82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상태 </a:t>
            </a:r>
            <a:r>
              <a:rPr lang="en-US" altLang="ko-KR" dirty="0"/>
              <a:t>- </a:t>
            </a:r>
            <a:r>
              <a:rPr lang="ko-KR" altLang="en-US" dirty="0" err="1"/>
              <a:t>연결안됨</a:t>
            </a:r>
            <a:endParaRPr lang="ko-KR" altLang="en-US" dirty="0"/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CBF44D-89E7-38D6-57A9-BFDC3BAF1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463" y="365125"/>
            <a:ext cx="5774338" cy="1207116"/>
          </a:xfrm>
          <a:prstGeom prst="rect">
            <a:avLst/>
          </a:prstGeom>
        </p:spPr>
      </p:pic>
      <p:pic>
        <p:nvPicPr>
          <p:cNvPr id="5" name="그림 4" descr="스케치, 텍스트, 도표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0C1B905-94E3-10B1-896A-70451EA962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1076" y="2677324"/>
            <a:ext cx="3877216" cy="2915057"/>
          </a:xfrm>
          <a:prstGeom prst="rect">
            <a:avLst/>
          </a:prstGeom>
        </p:spPr>
      </p:pic>
      <p:pic>
        <p:nvPicPr>
          <p:cNvPr id="8" name="그림 7" descr="텍스트, 폰트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9133E0-00D3-23E5-7A49-B65716F3A1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557" y="3734676"/>
            <a:ext cx="3874166" cy="8003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204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E1036-B18C-D354-774E-E908723118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C5664B9-68A9-2ED7-9D61-64DE65ABFF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상태 </a:t>
            </a:r>
            <a:r>
              <a:rPr lang="en-US" altLang="ko-KR" dirty="0"/>
              <a:t>- </a:t>
            </a:r>
            <a:r>
              <a:rPr lang="ko-KR" altLang="en-US" dirty="0"/>
              <a:t>연결수립</a:t>
            </a: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3A23010-2FDB-F70C-7A70-D978738F8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463" y="365125"/>
            <a:ext cx="5774338" cy="1207116"/>
          </a:xfrm>
          <a:prstGeom prst="rect">
            <a:avLst/>
          </a:prstGeom>
        </p:spPr>
      </p:pic>
      <p:pic>
        <p:nvPicPr>
          <p:cNvPr id="7" name="그림 6" descr="텍스트, 라인, 도표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9C0D736-8EEE-E3BB-D4B7-CF4C78E9D5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048" y="2146564"/>
            <a:ext cx="5401796" cy="4104914"/>
          </a:xfrm>
          <a:prstGeom prst="rect">
            <a:avLst/>
          </a:prstGeom>
        </p:spPr>
      </p:pic>
      <p:pic>
        <p:nvPicPr>
          <p:cNvPr id="9" name="그림 8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27FAD8-4A4D-B011-63E0-712DB725C4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46995" y="3127309"/>
            <a:ext cx="6496957" cy="2143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5869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36E71-A107-44D0-9104-6D82215E3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135FC6-85E9-6A9A-D987-6D89827D6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상태 </a:t>
            </a:r>
            <a:r>
              <a:rPr lang="en-US" altLang="ko-KR" dirty="0"/>
              <a:t>- </a:t>
            </a:r>
            <a:r>
              <a:rPr lang="ko-KR" altLang="en-US" dirty="0"/>
              <a:t>연결종료</a:t>
            </a: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52F66A9-8883-459A-53A2-74D1D45448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463" y="365125"/>
            <a:ext cx="5774338" cy="1207116"/>
          </a:xfrm>
          <a:prstGeom prst="rect">
            <a:avLst/>
          </a:prstGeom>
        </p:spPr>
      </p:pic>
      <p:pic>
        <p:nvPicPr>
          <p:cNvPr id="4" name="그림 3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9737F9D-7B58-1CCA-84E6-1091D48843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512" y="2029430"/>
            <a:ext cx="5448141" cy="4186801"/>
          </a:xfrm>
          <a:prstGeom prst="rect">
            <a:avLst/>
          </a:prstGeom>
        </p:spPr>
      </p:pic>
      <p:pic>
        <p:nvPicPr>
          <p:cNvPr id="8" name="그림 7" descr="텍스트, 폰트, 스크린샷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BDF968-28B4-0E7B-7DB5-5362971934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1158" y="2297518"/>
            <a:ext cx="6506483" cy="2229161"/>
          </a:xfrm>
          <a:prstGeom prst="rect">
            <a:avLst/>
          </a:prstGeom>
        </p:spPr>
      </p:pic>
      <p:pic>
        <p:nvPicPr>
          <p:cNvPr id="11" name="그림 10" descr="텍스트, 폰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893A37E-F66D-9767-7B28-5A2EA0B71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19263" y="4526679"/>
            <a:ext cx="6468378" cy="201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12274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3458BC-21DE-E7C2-8F6D-C18576C4B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9F7F65-B984-F012-1376-0C8698D984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</a:t>
            </a:r>
            <a:r>
              <a:rPr lang="ko-KR" altLang="en-US" dirty="0"/>
              <a:t>상태 </a:t>
            </a:r>
            <a:r>
              <a:rPr lang="en-US" altLang="ko-KR" dirty="0"/>
              <a:t>- </a:t>
            </a:r>
            <a:r>
              <a:rPr lang="ko-KR" altLang="en-US" dirty="0"/>
              <a:t>연결종료</a:t>
            </a:r>
          </a:p>
        </p:txBody>
      </p:sp>
      <p:pic>
        <p:nvPicPr>
          <p:cNvPr id="6" name="그림 5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EB5B494-48F8-E5E3-B84B-880570FF5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463" y="365125"/>
            <a:ext cx="5774338" cy="1207116"/>
          </a:xfrm>
          <a:prstGeom prst="rect">
            <a:avLst/>
          </a:prstGeom>
        </p:spPr>
      </p:pic>
      <p:pic>
        <p:nvPicPr>
          <p:cNvPr id="5" name="그림 4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D09647-B8D8-E2F1-BF27-A9C4A90E16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2732" y="2822918"/>
            <a:ext cx="6706536" cy="345805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862C45-26A2-F5D3-1979-BB1B42E18C5F}"/>
              </a:ext>
            </a:extLst>
          </p:cNvPr>
          <p:cNvSpPr txBox="1"/>
          <p:nvPr/>
        </p:nvSpPr>
        <p:spPr>
          <a:xfrm>
            <a:off x="5645395" y="2215565"/>
            <a:ext cx="901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netstat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2329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3E7ADE-925F-F913-F08F-ABEA93FE8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11C5A4-4455-202A-EE0C-07FAA8EF14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UDP </a:t>
            </a:r>
            <a:r>
              <a:rPr lang="ko-KR" altLang="en-US" dirty="0" err="1"/>
              <a:t>데이터그램</a:t>
            </a:r>
            <a:r>
              <a:rPr lang="ko-KR" altLang="en-US" dirty="0"/>
              <a:t> 구조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BD01E55-E040-C407-9F1E-5AD5D4D8F652}"/>
              </a:ext>
            </a:extLst>
          </p:cNvPr>
          <p:cNvSpPr txBox="1"/>
          <p:nvPr/>
        </p:nvSpPr>
        <p:spPr>
          <a:xfrm>
            <a:off x="2497165" y="1877083"/>
            <a:ext cx="72410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highlight>
                  <a:srgbClr val="FFFF00"/>
                </a:highlight>
              </a:rPr>
              <a:t>스테이트리스</a:t>
            </a:r>
            <a:r>
              <a:rPr lang="ko-KR" altLang="en-US" dirty="0">
                <a:highlight>
                  <a:srgbClr val="FFFF00"/>
                </a:highlight>
              </a:rPr>
              <a:t> </a:t>
            </a:r>
            <a:r>
              <a:rPr lang="ko-KR" altLang="en-US" dirty="0"/>
              <a:t>프로토콜</a:t>
            </a:r>
            <a:r>
              <a:rPr lang="en-US" altLang="ko-KR" dirty="0"/>
              <a:t>: </a:t>
            </a:r>
            <a:r>
              <a:rPr lang="ko-KR" altLang="en-US" dirty="0"/>
              <a:t>상태를 유지하지도</a:t>
            </a:r>
            <a:r>
              <a:rPr lang="en-US" altLang="ko-KR" dirty="0"/>
              <a:t>, </a:t>
            </a:r>
            <a:r>
              <a:rPr lang="ko-KR" altLang="en-US" dirty="0"/>
              <a:t>활용하지도 않는다는 뜻</a:t>
            </a:r>
            <a:r>
              <a:rPr lang="en-US" altLang="ko-KR" dirty="0"/>
              <a:t>.</a:t>
            </a:r>
            <a:endParaRPr lang="ko-KR" altLang="en-US" dirty="0"/>
          </a:p>
        </p:txBody>
      </p:sp>
      <p:pic>
        <p:nvPicPr>
          <p:cNvPr id="4" name="그림 3" descr="텍스트, 라인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CA68232-E188-88BA-2D19-906A7BC502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646" y="2740479"/>
            <a:ext cx="6400124" cy="1611543"/>
          </a:xfrm>
          <a:prstGeom prst="rect">
            <a:avLst/>
          </a:prstGeom>
        </p:spPr>
      </p:pic>
      <p:pic>
        <p:nvPicPr>
          <p:cNvPr id="9" name="그림 8" descr="텍스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DA97F8-09A5-B246-BA7F-86813FAB99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4012" y="4665978"/>
            <a:ext cx="9889788" cy="1611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47875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873BC0-6644-9B32-AA53-E90754E0C4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6F04D2F-0104-492B-3E6B-A42465F1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</a:t>
            </a:r>
            <a:r>
              <a:rPr lang="ko-KR" altLang="en-US" dirty="0"/>
              <a:t>와 </a:t>
            </a:r>
            <a:r>
              <a:rPr lang="en-US" altLang="ko-KR" dirty="0"/>
              <a:t>UDP</a:t>
            </a:r>
            <a:r>
              <a:rPr lang="ko-KR" altLang="en-US" dirty="0"/>
              <a:t>의 차이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787C99C-0801-4F60-DEB4-829DFACF229A}"/>
              </a:ext>
            </a:extLst>
          </p:cNvPr>
          <p:cNvSpPr txBox="1"/>
          <p:nvPr/>
        </p:nvSpPr>
        <p:spPr>
          <a:xfrm>
            <a:off x="6724849" y="704740"/>
            <a:ext cx="323364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highlight>
                  <a:srgbClr val="FFFF00"/>
                </a:highlight>
              </a:rPr>
              <a:t>TCP</a:t>
            </a:r>
            <a:r>
              <a:rPr lang="ko-KR" altLang="en-US" dirty="0">
                <a:highlight>
                  <a:srgbClr val="FFFF00"/>
                </a:highlight>
              </a:rPr>
              <a:t>는 </a:t>
            </a:r>
            <a:r>
              <a:rPr lang="en-US" altLang="ko-KR" dirty="0">
                <a:highlight>
                  <a:srgbClr val="FFFF00"/>
                </a:highlight>
              </a:rPr>
              <a:t>‘</a:t>
            </a:r>
            <a:r>
              <a:rPr lang="ko-KR" altLang="en-US" dirty="0">
                <a:highlight>
                  <a:srgbClr val="FFFF00"/>
                </a:highlight>
              </a:rPr>
              <a:t>하나씩 확실하게 전달</a:t>
            </a:r>
            <a:r>
              <a:rPr lang="en-US" altLang="ko-KR" dirty="0">
                <a:highlight>
                  <a:srgbClr val="FFFF00"/>
                </a:highlight>
              </a:rPr>
              <a:t>‘</a:t>
            </a:r>
          </a:p>
          <a:p>
            <a:r>
              <a:rPr lang="en-US" altLang="ko-KR" dirty="0">
                <a:highlight>
                  <a:srgbClr val="FFFF00"/>
                </a:highlight>
              </a:rPr>
              <a:t>UDP</a:t>
            </a:r>
            <a:r>
              <a:rPr lang="ko-KR" altLang="en-US" dirty="0">
                <a:highlight>
                  <a:srgbClr val="FFFF00"/>
                </a:highlight>
              </a:rPr>
              <a:t>는 </a:t>
            </a:r>
            <a:r>
              <a:rPr lang="en-US" altLang="ko-KR" dirty="0">
                <a:highlight>
                  <a:srgbClr val="FFFF00"/>
                </a:highlight>
              </a:rPr>
              <a:t>‘</a:t>
            </a:r>
            <a:r>
              <a:rPr lang="ko-KR" altLang="en-US" dirty="0">
                <a:highlight>
                  <a:srgbClr val="FFFF00"/>
                </a:highlight>
              </a:rPr>
              <a:t>빠르게 마구 던지기</a:t>
            </a:r>
            <a:r>
              <a:rPr lang="en-US" altLang="ko-KR" dirty="0">
                <a:highlight>
                  <a:srgbClr val="FFFF00"/>
                </a:highlight>
              </a:rPr>
              <a:t>＇</a:t>
            </a:r>
            <a:endParaRPr lang="ko-KR" altLang="en-US" dirty="0">
              <a:highlight>
                <a:srgbClr val="FFFF00"/>
              </a:highlight>
            </a:endParaRPr>
          </a:p>
        </p:txBody>
      </p:sp>
      <p:pic>
        <p:nvPicPr>
          <p:cNvPr id="5" name="그림 4" descr="텍스트, 라인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7EC042F-A6E6-54A2-E6D9-42473CAE2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839" y="2274702"/>
            <a:ext cx="4839375" cy="3848637"/>
          </a:xfrm>
          <a:prstGeom prst="rect">
            <a:avLst/>
          </a:prstGeom>
        </p:spPr>
      </p:pic>
      <p:pic>
        <p:nvPicPr>
          <p:cNvPr id="8" name="그림 7" descr="라인, 도표, 텍스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539C61-6430-DB46-0FBC-84AF9B3F17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4849" y="2293755"/>
            <a:ext cx="4324954" cy="3829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9887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7CA403-52F4-1D6F-533A-369E0E0900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BF29BD-42FB-722D-11FD-CC91503185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TCP </a:t>
            </a:r>
            <a:r>
              <a:rPr lang="ko-KR" altLang="en-US"/>
              <a:t>데이터 송수신</a:t>
            </a:r>
            <a:endParaRPr lang="ko-KR" altLang="en-US" dirty="0"/>
          </a:p>
        </p:txBody>
      </p:sp>
      <p:pic>
        <p:nvPicPr>
          <p:cNvPr id="4" name="그림 3" descr="텍스트, 스크린샷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131A3C1-7AB8-4892-1FC7-CDB8E889B2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0754" y="3798831"/>
            <a:ext cx="8930492" cy="2199886"/>
          </a:xfrm>
          <a:prstGeom prst="rect">
            <a:avLst/>
          </a:prstGeom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F611CF1-6A23-0133-A887-4686BA99DC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ko-KR" dirty="0"/>
              <a:t>TCP</a:t>
            </a:r>
            <a:r>
              <a:rPr lang="ko-KR" altLang="en-US" dirty="0"/>
              <a:t>는 재전송을 기반으로 다양한 </a:t>
            </a:r>
            <a:r>
              <a:rPr lang="ko-KR" altLang="en-US" dirty="0">
                <a:highlight>
                  <a:srgbClr val="FFFF00"/>
                </a:highlight>
              </a:rPr>
              <a:t>오류 제어</a:t>
            </a:r>
            <a:endParaRPr lang="en-US" altLang="ko-KR" dirty="0">
              <a:highlight>
                <a:srgbClr val="FFFF00"/>
              </a:highlight>
            </a:endParaRPr>
          </a:p>
          <a:p>
            <a:r>
              <a:rPr lang="ko-KR" altLang="en-US" dirty="0">
                <a:highlight>
                  <a:srgbClr val="FFFF00"/>
                </a:highlight>
              </a:rPr>
              <a:t>흐름제어</a:t>
            </a:r>
            <a:r>
              <a:rPr lang="ko-KR" altLang="en-US" dirty="0"/>
              <a:t>를 통해 처리할 수 있을 만큼의 데이터만 주고받음</a:t>
            </a:r>
            <a:endParaRPr lang="en-US" altLang="ko-KR" dirty="0"/>
          </a:p>
          <a:p>
            <a:r>
              <a:rPr lang="ko-KR" altLang="en-US" dirty="0">
                <a:highlight>
                  <a:srgbClr val="FFFF00"/>
                </a:highlight>
              </a:rPr>
              <a:t>혼잡 제어</a:t>
            </a:r>
            <a:r>
              <a:rPr lang="ko-KR" altLang="en-US" dirty="0"/>
              <a:t>를 통해 네트워크가 혼잡한 정도에 따라 </a:t>
            </a:r>
            <a:r>
              <a:rPr lang="ko-KR" altLang="en-US" dirty="0" err="1"/>
              <a:t>전송량</a:t>
            </a:r>
            <a:r>
              <a:rPr lang="ko-KR" altLang="en-US" dirty="0"/>
              <a:t> 조절</a:t>
            </a:r>
          </a:p>
        </p:txBody>
      </p:sp>
    </p:spTree>
    <p:extLst>
      <p:ext uri="{BB962C8B-B14F-4D97-AF65-F5344CB8AC3E}">
        <p14:creationId xmlns:p14="http://schemas.microsoft.com/office/powerpoint/2010/main" val="404372766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BA7C22-5B9B-0B00-1C3C-5C7D3AE6B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C8E145-C63C-863E-5D33-0C5EE4BD3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TCP –</a:t>
            </a:r>
            <a:r>
              <a:rPr lang="ko-KR" altLang="en-US"/>
              <a:t> 오류 검출과 재전송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9678A00-F6B1-1567-C7DE-8DF42F8487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첫번째</a:t>
            </a:r>
            <a:r>
              <a:rPr lang="en-US" altLang="ko-KR" dirty="0"/>
              <a:t>, </a:t>
            </a:r>
            <a:r>
              <a:rPr lang="ko-KR" altLang="en-US" dirty="0"/>
              <a:t>중복된 </a:t>
            </a:r>
            <a:r>
              <a:rPr lang="en-US" altLang="ko-KR" dirty="0"/>
              <a:t>ACK </a:t>
            </a:r>
            <a:r>
              <a:rPr lang="ko-KR" altLang="en-US" dirty="0"/>
              <a:t>세그먼트를 수신했을 때</a:t>
            </a:r>
          </a:p>
        </p:txBody>
      </p:sp>
      <p:pic>
        <p:nvPicPr>
          <p:cNvPr id="5" name="그림 4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36F1F1-5CAA-C1A0-4F0B-B68F1B10FE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576" y="2710922"/>
            <a:ext cx="3562847" cy="378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58939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1741E-6568-AD6C-E351-7BDCB37135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DE75DD-DC97-797E-C26B-BD32CBDFEF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</a:t>
            </a:r>
            <a:r>
              <a:rPr lang="ko-KR" altLang="en-US" dirty="0"/>
              <a:t> 오류 검출과 재전송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E0F7C8E-5CBC-0462-3308-14F1DDB1BC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ko-KR" altLang="en-US" dirty="0"/>
              <a:t>두번째</a:t>
            </a:r>
            <a:r>
              <a:rPr lang="en-US" altLang="ko-KR" dirty="0"/>
              <a:t>, </a:t>
            </a:r>
            <a:r>
              <a:rPr lang="ko-KR" altLang="en-US" dirty="0"/>
              <a:t>타임아웃이 발생했을 때</a:t>
            </a:r>
          </a:p>
        </p:txBody>
      </p:sp>
      <p:pic>
        <p:nvPicPr>
          <p:cNvPr id="4" name="그림 3" descr="텍스트, 라인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FEBC73-4B54-6E1F-B785-32479EFE5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5971" y="2853817"/>
            <a:ext cx="3820058" cy="3639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7538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7359B6-2D4D-63A2-F535-7944D0787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5E3313-02D6-42B9-BA92-8451C2EA10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</a:t>
            </a:r>
            <a:r>
              <a:rPr lang="ko-KR" altLang="en-US" dirty="0"/>
              <a:t> 오류 검출과 재전송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DD8E88B-8F00-F494-919D-BE2BF86B107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ko-KR" dirty="0">
                <a:highlight>
                  <a:srgbClr val="FFFF00"/>
                </a:highlight>
              </a:rPr>
              <a:t>RTT</a:t>
            </a:r>
            <a:r>
              <a:rPr lang="en-US" altLang="ko-KR" dirty="0"/>
              <a:t>: </a:t>
            </a:r>
            <a:r>
              <a:rPr lang="ko-KR" altLang="en-US" dirty="0"/>
              <a:t>메시지를 전송한 뒤 그에 대한 답변을 받는 데까지 걸리는 시간</a:t>
            </a:r>
            <a:r>
              <a:rPr lang="en-US" altLang="ko-KR" dirty="0"/>
              <a:t>(=Round Trip Time)</a:t>
            </a:r>
            <a:endParaRPr lang="ko-KR" altLang="en-US" dirty="0"/>
          </a:p>
        </p:txBody>
      </p:sp>
      <p:pic>
        <p:nvPicPr>
          <p:cNvPr id="5" name="그림 4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BC51525-1212-B54A-E790-47CF7226E1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7338" y="3015916"/>
            <a:ext cx="5897323" cy="3605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50309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D4CFF6-FDFA-D584-FD43-FB66B2A775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C77453F-2C5F-4CFA-2EF2-26C60541E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TCP –</a:t>
            </a:r>
            <a:r>
              <a:rPr lang="ko-KR" altLang="en-US"/>
              <a:t> 오류 검출과 재전송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F45CBED-BD2F-E2B4-FD1E-6521268C4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r>
              <a:rPr lang="en-US" altLang="ko-KR" dirty="0">
                <a:highlight>
                  <a:srgbClr val="FFFF00"/>
                </a:highlight>
              </a:rPr>
              <a:t>ARQ</a:t>
            </a:r>
            <a:r>
              <a:rPr lang="en-US" altLang="ko-KR" dirty="0"/>
              <a:t>: </a:t>
            </a:r>
            <a:r>
              <a:rPr lang="ko-KR" altLang="en-US" dirty="0"/>
              <a:t>문제가 생긴 메시지를 </a:t>
            </a:r>
            <a:r>
              <a:rPr lang="ko-KR" altLang="en-US" dirty="0">
                <a:highlight>
                  <a:srgbClr val="FFFF00"/>
                </a:highlight>
              </a:rPr>
              <a:t>재전송</a:t>
            </a:r>
            <a:r>
              <a:rPr lang="ko-KR" altLang="en-US" dirty="0"/>
              <a:t>함으로써 신뢰성을 확보하는 방식 </a:t>
            </a:r>
            <a:r>
              <a:rPr lang="en-US" altLang="ko-KR" dirty="0"/>
              <a:t>(=</a:t>
            </a:r>
            <a:r>
              <a:rPr lang="ko-KR" altLang="en-US" dirty="0"/>
              <a:t>자동 재전송 요구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5" name="그림 4" descr="텍스트, 폰트, 스케치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A843F3-0926-E364-2BD9-ADC58CA25F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1601" y="2925428"/>
            <a:ext cx="5848797" cy="3251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4818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9CACEC-EE41-86E0-6703-2D1F8C22DC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2AFB9E-05A0-8D93-8D12-F117A8C9A1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TCP –</a:t>
            </a:r>
            <a:r>
              <a:rPr lang="ko-KR" altLang="en-US"/>
              <a:t> 오류 검출과 재전송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48ED9DE-C952-1F90-A8C7-01E67C6FC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highlight>
                  <a:srgbClr val="FFFF00"/>
                </a:highlight>
              </a:rPr>
              <a:t>Stop-and-Wait ARQ</a:t>
            </a:r>
            <a:r>
              <a:rPr lang="en-US" altLang="ko-KR" sz="2000" dirty="0"/>
              <a:t>: </a:t>
            </a:r>
            <a:r>
              <a:rPr lang="ko-KR" altLang="en-US" sz="2000" dirty="0"/>
              <a:t>제대로 전달했음을 확인하기 전까지는 새로운 메시지를 보내지 않는 방식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장점</a:t>
            </a:r>
            <a:r>
              <a:rPr lang="en-US" altLang="ko-KR" sz="2000" dirty="0"/>
              <a:t>: </a:t>
            </a:r>
            <a:r>
              <a:rPr lang="ko-KR" altLang="en-US" sz="2000" dirty="0"/>
              <a:t>단순하지만 높은 신뢰성 보장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단점</a:t>
            </a:r>
            <a:r>
              <a:rPr lang="en-US" altLang="ko-KR" sz="2000" dirty="0"/>
              <a:t>: </a:t>
            </a:r>
            <a:r>
              <a:rPr lang="ko-KR" altLang="en-US" sz="2000" dirty="0"/>
              <a:t>네트워크 이용 효율이 낮아지고 성능 저하</a:t>
            </a:r>
            <a:r>
              <a:rPr lang="en-US" altLang="ko-KR" sz="2000" dirty="0"/>
              <a:t>.</a:t>
            </a:r>
            <a:endParaRPr lang="ko-KR" altLang="en-US" sz="2000" dirty="0"/>
          </a:p>
        </p:txBody>
      </p:sp>
      <p:pic>
        <p:nvPicPr>
          <p:cNvPr id="5" name="그림 4" descr="텍스트, 폰트, 스케치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835DD05-ABA0-2E37-1B92-D7C4510C38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54882"/>
            <a:ext cx="4143599" cy="2303560"/>
          </a:xfrm>
          <a:prstGeom prst="rect">
            <a:avLst/>
          </a:prstGeom>
        </p:spPr>
      </p:pic>
      <p:pic>
        <p:nvPicPr>
          <p:cNvPr id="4" name="그림 3" descr="텍스트, 라인, 도표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E558A5F-54C5-4C95-48F0-B9CBC02BB9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10203" y="2720449"/>
            <a:ext cx="3629532" cy="377242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9DF374F3-1AD8-FA4E-74BB-E83995B10B01}"/>
              </a:ext>
            </a:extLst>
          </p:cNvPr>
          <p:cNvSpPr/>
          <p:nvPr/>
        </p:nvSpPr>
        <p:spPr>
          <a:xfrm>
            <a:off x="2066629" y="3728578"/>
            <a:ext cx="2686248" cy="5454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385006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E03831-EC4D-3A79-BFF2-C2118295E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680D72C-8B7D-AAA0-DF88-AEFEC8C801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TCP –</a:t>
            </a:r>
            <a:r>
              <a:rPr lang="ko-KR" altLang="en-US"/>
              <a:t> 오류 검출과 재전송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139B8B8D-D619-CFFD-4914-B50ABC42AE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highlight>
                  <a:srgbClr val="FFFF00"/>
                </a:highlight>
              </a:rPr>
              <a:t>Go-Back-N ARQ</a:t>
            </a:r>
            <a:r>
              <a:rPr lang="en-US" altLang="ko-KR" sz="2000" dirty="0"/>
              <a:t>: </a:t>
            </a:r>
            <a:r>
              <a:rPr lang="ko-KR" altLang="en-US" sz="2000" b="1" u="sng" dirty="0" err="1"/>
              <a:t>파이프라이닝</a:t>
            </a:r>
            <a:r>
              <a:rPr lang="ko-KR" altLang="en-US" sz="2000" dirty="0"/>
              <a:t> 방식을 활용해 여러 세그먼트를 전송하고</a:t>
            </a:r>
            <a:r>
              <a:rPr lang="en-US" altLang="ko-KR" sz="2000" dirty="0"/>
              <a:t>, </a:t>
            </a:r>
            <a:r>
              <a:rPr lang="ko-KR" altLang="en-US" sz="2000" dirty="0"/>
              <a:t>도중에 잘못 전송된 세그먼트 발생할 경우 해당 세그먼트부터 전부 다시 전송하는 방식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/>
              <a:t>(=</a:t>
            </a:r>
            <a:r>
              <a:rPr lang="ko-KR" altLang="en-US" sz="2000" dirty="0"/>
              <a:t>누적 확인 응답</a:t>
            </a:r>
            <a:r>
              <a:rPr lang="en-US" altLang="ko-KR" sz="2000" dirty="0"/>
              <a:t>)</a:t>
            </a:r>
          </a:p>
        </p:txBody>
      </p:sp>
      <p:pic>
        <p:nvPicPr>
          <p:cNvPr id="5" name="그림 4" descr="텍스트, 폰트, 스케치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5C302F8-04FD-A6A9-4C15-28E3AC8899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54882"/>
            <a:ext cx="4143599" cy="2303560"/>
          </a:xfrm>
          <a:prstGeom prst="rect">
            <a:avLst/>
          </a:prstGeom>
        </p:spPr>
      </p:pic>
      <p:pic>
        <p:nvPicPr>
          <p:cNvPr id="7" name="그림 6" descr="텍스트, 라인, 도표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A2FDF5B-E5F5-CF07-6E8E-87F42E86B8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71163" y="2515632"/>
            <a:ext cx="6230219" cy="418205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2BCC9E2-7CCA-2F98-9EC3-E4D1AE0949AF}"/>
              </a:ext>
            </a:extLst>
          </p:cNvPr>
          <p:cNvSpPr txBox="1"/>
          <p:nvPr/>
        </p:nvSpPr>
        <p:spPr>
          <a:xfrm>
            <a:off x="1306868" y="6207195"/>
            <a:ext cx="51796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>
                <a:highlight>
                  <a:srgbClr val="FFFF00"/>
                </a:highlight>
              </a:rPr>
              <a:t>파이프라이닝</a:t>
            </a:r>
            <a:r>
              <a:rPr lang="en-US" altLang="ko-KR" dirty="0"/>
              <a:t>: </a:t>
            </a:r>
            <a:r>
              <a:rPr lang="ko-KR" altLang="en-US" dirty="0"/>
              <a:t>연속해서 메시지를 전송하는 기술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41DE7CF3-7729-4F25-32F3-1CED89B44512}"/>
              </a:ext>
            </a:extLst>
          </p:cNvPr>
          <p:cNvSpPr/>
          <p:nvPr/>
        </p:nvSpPr>
        <p:spPr>
          <a:xfrm>
            <a:off x="2130797" y="4466515"/>
            <a:ext cx="2686248" cy="5454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80748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0E716-946E-7CAE-16C0-7BCE175737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84E6E76-FDCC-B577-173B-F1729B222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TCP –</a:t>
            </a:r>
            <a:r>
              <a:rPr lang="ko-KR" altLang="en-US"/>
              <a:t> 오류 검출과 재전송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6F0B69BE-4571-7893-6001-CBD3D2ECCE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highlight>
                  <a:srgbClr val="FFFF00"/>
                </a:highlight>
              </a:rPr>
              <a:t>Selective Repeat ARQ</a:t>
            </a:r>
            <a:r>
              <a:rPr lang="en-US" altLang="ko-KR" sz="2000" dirty="0"/>
              <a:t>: </a:t>
            </a:r>
            <a:r>
              <a:rPr lang="ko-KR" altLang="en-US" sz="2000" dirty="0"/>
              <a:t>선택적으로 재전송</a:t>
            </a:r>
            <a:endParaRPr lang="en-US" altLang="ko-KR" sz="2000" dirty="0"/>
          </a:p>
          <a:p>
            <a:r>
              <a:rPr lang="en-US" altLang="ko-KR" sz="2000" dirty="0"/>
              <a:t>(=</a:t>
            </a:r>
            <a:r>
              <a:rPr lang="ko-KR" altLang="en-US" sz="2000" dirty="0"/>
              <a:t>개별 확인 응답</a:t>
            </a:r>
            <a:r>
              <a:rPr lang="en-US" altLang="ko-KR" sz="2000" dirty="0"/>
              <a:t>)</a:t>
            </a:r>
          </a:p>
        </p:txBody>
      </p:sp>
      <p:pic>
        <p:nvPicPr>
          <p:cNvPr id="5" name="그림 4" descr="텍스트, 폰트, 스케치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E64F2B8-B874-156E-BB33-A7F7B71FD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3454882"/>
            <a:ext cx="4143599" cy="2303560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2C5FFB18-6EBC-1F49-069F-4B688C2FE59D}"/>
              </a:ext>
            </a:extLst>
          </p:cNvPr>
          <p:cNvSpPr/>
          <p:nvPr/>
        </p:nvSpPr>
        <p:spPr>
          <a:xfrm>
            <a:off x="2143542" y="5081031"/>
            <a:ext cx="2686248" cy="545432"/>
          </a:xfrm>
          <a:prstGeom prst="rect">
            <a:avLst/>
          </a:prstGeom>
          <a:solidFill>
            <a:srgbClr val="FFFF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pic>
        <p:nvPicPr>
          <p:cNvPr id="4" name="그림 3" descr="텍스트, 도표, 라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408DD4-67B0-8A7D-F4AD-539D43B685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5132" y="1773769"/>
            <a:ext cx="6056867" cy="5084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5884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684BDD-C50E-77BA-BB24-2391507A22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C69D08-8B41-D1EF-0129-F4D3F66AFA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</a:t>
            </a:r>
            <a:r>
              <a:rPr lang="ko-KR" altLang="en-US" dirty="0"/>
              <a:t> 흐름 제어</a:t>
            </a:r>
            <a:r>
              <a:rPr lang="en-US" altLang="ko-KR" dirty="0"/>
              <a:t>: </a:t>
            </a:r>
            <a:r>
              <a:rPr lang="ko-KR" altLang="en-US" dirty="0">
                <a:highlight>
                  <a:srgbClr val="FFFF00"/>
                </a:highlight>
              </a:rPr>
              <a:t>슬라이딩 윈도우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9DA29BA-68F8-6A8B-BF7C-9C381D61F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수신 버퍼</a:t>
            </a:r>
            <a:r>
              <a:rPr lang="en-US" altLang="ko-KR" sz="2000" dirty="0"/>
              <a:t>: </a:t>
            </a:r>
            <a:r>
              <a:rPr lang="ko-KR" altLang="en-US" sz="2000" dirty="0"/>
              <a:t>수신된 세그먼트가 읽히기 전에 임시로 저장되는 공간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>
                <a:highlight>
                  <a:srgbClr val="FFFF00"/>
                </a:highlight>
              </a:rPr>
              <a:t>버퍼 </a:t>
            </a:r>
            <a:r>
              <a:rPr lang="ko-KR" altLang="en-US" sz="2000" dirty="0" err="1">
                <a:highlight>
                  <a:srgbClr val="FFFF00"/>
                </a:highlight>
              </a:rPr>
              <a:t>오버플로</a:t>
            </a:r>
            <a:r>
              <a:rPr lang="en-US" altLang="ko-KR" sz="2000" dirty="0"/>
              <a:t>: </a:t>
            </a:r>
            <a:r>
              <a:rPr lang="ko-KR" altLang="en-US" sz="2000" dirty="0"/>
              <a:t>버퍼가 넘치는 문제 상황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>
                <a:highlight>
                  <a:srgbClr val="FFFF00"/>
                </a:highlight>
              </a:rPr>
              <a:t>흐름 제어</a:t>
            </a:r>
            <a:r>
              <a:rPr lang="en-US" altLang="ko-KR" sz="2000" dirty="0"/>
              <a:t>: </a:t>
            </a:r>
            <a:r>
              <a:rPr lang="ko-KR" altLang="en-US" sz="2000" dirty="0"/>
              <a:t>버퍼 </a:t>
            </a:r>
            <a:r>
              <a:rPr lang="ko-KR" altLang="en-US" sz="2000" dirty="0" err="1"/>
              <a:t>오버플로</a:t>
            </a:r>
            <a:r>
              <a:rPr lang="ko-KR" altLang="en-US" sz="2000" dirty="0"/>
              <a:t> 방지하고자 처리 속도를 고려하며 송수신 속도 유지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>
                <a:highlight>
                  <a:srgbClr val="FFFF00"/>
                </a:highlight>
              </a:rPr>
              <a:t>윈도우</a:t>
            </a:r>
            <a:r>
              <a:rPr lang="en-US" altLang="ko-KR" sz="2000" dirty="0"/>
              <a:t>: </a:t>
            </a:r>
            <a:r>
              <a:rPr lang="ko-KR" altLang="en-US" sz="2000" dirty="0"/>
              <a:t>송신 호스트가 </a:t>
            </a:r>
            <a:r>
              <a:rPr lang="ko-KR" altLang="en-US" sz="2000" dirty="0" err="1"/>
              <a:t>파이프라이닝할</a:t>
            </a:r>
            <a:r>
              <a:rPr lang="ko-KR" altLang="en-US" sz="2000" dirty="0"/>
              <a:t> 수 있는 최대량을 의미</a:t>
            </a:r>
            <a:r>
              <a:rPr lang="en-US" altLang="ko-KR" sz="2000" dirty="0"/>
              <a:t>.</a:t>
            </a:r>
          </a:p>
        </p:txBody>
      </p:sp>
      <p:pic>
        <p:nvPicPr>
          <p:cNvPr id="7" name="그림 6" descr="텍스트, 라인, 폰트, 평행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A13078C2-EA67-AA14-E22A-CC6E25B205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33" y="4303669"/>
            <a:ext cx="5588970" cy="1475875"/>
          </a:xfrm>
          <a:prstGeom prst="rect">
            <a:avLst/>
          </a:prstGeom>
        </p:spPr>
      </p:pic>
      <p:pic>
        <p:nvPicPr>
          <p:cNvPr id="10" name="그림 9" descr="도표, 라인, 평행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4575CC6-AF55-145D-6EDB-0064F93972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492" y="3429000"/>
            <a:ext cx="5887453" cy="3300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59864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556FD2-8A9B-646E-A277-479C64A86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4BC8505-0BE0-0CB2-9CF9-0CE3D7346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</a:t>
            </a:r>
            <a:r>
              <a:rPr lang="ko-KR" altLang="en-US" dirty="0"/>
              <a:t> 혼잡 제어</a:t>
            </a:r>
            <a:r>
              <a:rPr lang="en-US" altLang="ko-KR" dirty="0"/>
              <a:t>: </a:t>
            </a:r>
            <a:r>
              <a:rPr lang="en-US" altLang="ko-KR" dirty="0">
                <a:highlight>
                  <a:srgbClr val="FFFF00"/>
                </a:highlight>
              </a:rPr>
              <a:t>AIMD</a:t>
            </a:r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FDA918BB-592F-8581-8E4A-587549B013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혼잡</a:t>
            </a:r>
            <a:r>
              <a:rPr lang="en-US" altLang="ko-KR" sz="2000" dirty="0"/>
              <a:t>: </a:t>
            </a:r>
            <a:r>
              <a:rPr lang="ko-KR" altLang="en-US" sz="2000" dirty="0"/>
              <a:t>많은 트래픽으로 인해 패킷의 처리 속도가 늦어지거나 유실될 우려가 있는 상황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>
                <a:highlight>
                  <a:srgbClr val="FFFF00"/>
                </a:highlight>
              </a:rPr>
              <a:t>혼잡 윈도우</a:t>
            </a:r>
            <a:r>
              <a:rPr lang="en-US" altLang="ko-KR" sz="2000" dirty="0"/>
              <a:t>: </a:t>
            </a:r>
            <a:r>
              <a:rPr lang="ko-KR" altLang="en-US" sz="2000" dirty="0"/>
              <a:t>혼잡 없이 전송할 수 있을 법한 데이터양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>
                <a:highlight>
                  <a:srgbClr val="FFFF00"/>
                </a:highlight>
              </a:rPr>
              <a:t>혼잡 제어 알고리즘</a:t>
            </a:r>
            <a:r>
              <a:rPr lang="en-US" altLang="ko-KR" sz="2000" dirty="0"/>
              <a:t>: </a:t>
            </a:r>
            <a:r>
              <a:rPr lang="ko-KR" altLang="en-US" sz="2000" dirty="0"/>
              <a:t>혼잡 제어를 수행하는 일련의 방법</a:t>
            </a:r>
            <a:r>
              <a:rPr lang="en-US" altLang="ko-KR" sz="2000" dirty="0"/>
              <a:t>.</a:t>
            </a:r>
          </a:p>
          <a:p>
            <a:r>
              <a:rPr lang="en-US" altLang="ko-KR" sz="2000" dirty="0">
                <a:highlight>
                  <a:srgbClr val="FFFF00"/>
                </a:highlight>
              </a:rPr>
              <a:t>AIMD</a:t>
            </a:r>
            <a:r>
              <a:rPr lang="en-US" altLang="ko-KR" sz="2000" dirty="0"/>
              <a:t>: </a:t>
            </a:r>
            <a:r>
              <a:rPr lang="ko-KR" altLang="en-US" sz="2000" dirty="0"/>
              <a:t>합으로 증가</a:t>
            </a:r>
            <a:r>
              <a:rPr lang="en-US" altLang="ko-KR" sz="2000" dirty="0"/>
              <a:t>, </a:t>
            </a:r>
            <a:r>
              <a:rPr lang="ko-KR" altLang="en-US" sz="2000" dirty="0"/>
              <a:t>곱으로 감소</a:t>
            </a:r>
            <a:r>
              <a:rPr lang="en-US" altLang="ko-KR" sz="2000" dirty="0"/>
              <a:t>. </a:t>
            </a:r>
            <a:r>
              <a:rPr lang="ko-KR" altLang="en-US" sz="2000" dirty="0"/>
              <a:t>혼잡</a:t>
            </a:r>
            <a:r>
              <a:rPr lang="en-US" altLang="ko-KR" sz="2000" dirty="0"/>
              <a:t>X</a:t>
            </a:r>
            <a:r>
              <a:rPr lang="ko-KR" altLang="en-US" sz="2000" dirty="0"/>
              <a:t>면 혼잡 윈도우를 </a:t>
            </a:r>
            <a:r>
              <a:rPr lang="en-US" altLang="ko-KR" sz="2000" dirty="0"/>
              <a:t>1</a:t>
            </a:r>
            <a:r>
              <a:rPr lang="ko-KR" altLang="en-US" sz="2000" dirty="0"/>
              <a:t>씩 증가</a:t>
            </a:r>
            <a:r>
              <a:rPr lang="en-US" altLang="ko-KR" sz="2000" dirty="0"/>
              <a:t>, </a:t>
            </a:r>
            <a:r>
              <a:rPr lang="ko-KR" altLang="en-US" sz="2000" dirty="0"/>
              <a:t>혼잡</a:t>
            </a:r>
            <a:r>
              <a:rPr lang="en-US" altLang="ko-KR" sz="2000" dirty="0"/>
              <a:t>O</a:t>
            </a:r>
            <a:r>
              <a:rPr lang="ko-KR" altLang="en-US" sz="2000" dirty="0"/>
              <a:t>면 절반으로 떨어뜨리는 동작을 반복하는 알고리즘</a:t>
            </a:r>
            <a:r>
              <a:rPr lang="en-US" altLang="ko-KR" sz="2000" dirty="0"/>
              <a:t>.</a:t>
            </a:r>
          </a:p>
          <a:p>
            <a:endParaRPr lang="en-US" altLang="ko-KR" sz="2000" dirty="0"/>
          </a:p>
        </p:txBody>
      </p:sp>
      <p:pic>
        <p:nvPicPr>
          <p:cNvPr id="4" name="그림 3" descr="라인, 도표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FF572C-2154-AE68-2041-78D9C7D47D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76233" y="3951859"/>
            <a:ext cx="4596693" cy="29061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252872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03785-128F-93F6-ECAE-07CAC5574E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7B281CB-1ADF-2BE9-34F0-C8D19E3FFD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</a:t>
            </a:r>
            <a:r>
              <a:rPr lang="ko-KR" altLang="en-US" dirty="0"/>
              <a:t> 혼잡 제어</a:t>
            </a:r>
            <a:r>
              <a:rPr lang="en-US" altLang="ko-KR" dirty="0"/>
              <a:t>: </a:t>
            </a:r>
            <a:r>
              <a:rPr lang="ko-KR" altLang="en-US" dirty="0">
                <a:highlight>
                  <a:srgbClr val="FFFF00"/>
                </a:highlight>
              </a:rPr>
              <a:t>느린 시작 알고리즘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0DD4AEB5-9886-DF42-4EC5-0143D9B19F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8127" y="1940637"/>
            <a:ext cx="6236368" cy="435133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느린 시작 알고리즘</a:t>
            </a:r>
            <a:r>
              <a:rPr lang="en-US" altLang="ko-KR" sz="2000" dirty="0"/>
              <a:t>: </a:t>
            </a:r>
            <a:r>
              <a:rPr lang="ko-KR" altLang="en-US" sz="2000" dirty="0"/>
              <a:t>혼잡 윈도우를 </a:t>
            </a:r>
            <a:r>
              <a:rPr lang="en-US" altLang="ko-KR" sz="2000" dirty="0"/>
              <a:t>1</a:t>
            </a:r>
            <a:r>
              <a:rPr lang="ko-KR" altLang="en-US" sz="2000" dirty="0"/>
              <a:t>부터 시작해 문제없이 수신된 </a:t>
            </a:r>
            <a:r>
              <a:rPr lang="en-US" altLang="ko-KR" sz="2000" dirty="0"/>
              <a:t>ACK </a:t>
            </a:r>
            <a:r>
              <a:rPr lang="ko-KR" altLang="en-US" sz="2000" dirty="0"/>
              <a:t>세그먼트 하나당 </a:t>
            </a:r>
            <a:r>
              <a:rPr lang="en-US" altLang="ko-KR" sz="2000" dirty="0"/>
              <a:t>1</a:t>
            </a:r>
            <a:r>
              <a:rPr lang="ko-KR" altLang="en-US" sz="2000" dirty="0"/>
              <a:t>씩 증가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>
                <a:highlight>
                  <a:srgbClr val="FFFF00"/>
                </a:highlight>
              </a:rPr>
              <a:t>느린 시작 임계치</a:t>
            </a:r>
            <a:r>
              <a:rPr lang="en-US" altLang="ko-KR" sz="2000" dirty="0"/>
              <a:t>: </a:t>
            </a:r>
            <a:r>
              <a:rPr lang="ko-KR" altLang="en-US" sz="2000" dirty="0"/>
              <a:t>혼잡 윈도우가 증가하다가 임계치 이상이 되거나</a:t>
            </a:r>
            <a:r>
              <a:rPr lang="en-US" altLang="ko-KR" sz="2000" dirty="0"/>
              <a:t>, </a:t>
            </a:r>
            <a:r>
              <a:rPr lang="ko-KR" altLang="en-US" sz="2000" dirty="0"/>
              <a:t>타임아웃이 발생하거나</a:t>
            </a:r>
            <a:r>
              <a:rPr lang="en-US" altLang="ko-KR" sz="2000" dirty="0"/>
              <a:t>, </a:t>
            </a:r>
            <a:r>
              <a:rPr lang="ko-KR" altLang="en-US" sz="2000" dirty="0"/>
              <a:t>중복된 세그먼트가 발생하여 혼잡이 감지되면 세가지 방법 중 하나를 선택</a:t>
            </a:r>
            <a:r>
              <a:rPr lang="en-US" altLang="ko-KR" sz="2000" dirty="0"/>
              <a:t>.</a:t>
            </a:r>
          </a:p>
        </p:txBody>
      </p:sp>
      <p:pic>
        <p:nvPicPr>
          <p:cNvPr id="5" name="그림 4" descr="라인, 도표, 평행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8CB312D-9B4F-5586-DAF2-5872A49242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879" y="1538837"/>
            <a:ext cx="5718121" cy="4753138"/>
          </a:xfrm>
          <a:prstGeom prst="rect">
            <a:avLst/>
          </a:prstGeom>
        </p:spPr>
      </p:pic>
      <p:pic>
        <p:nvPicPr>
          <p:cNvPr id="8" name="그림 7" descr="텍스트, 스크린샷, 폰트, 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FEDA949-F65E-4CD4-8672-56CE6B987C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8127" y="4411483"/>
            <a:ext cx="6236368" cy="1371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8807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2FD671-A681-A6FF-01A0-D3FC7E39C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7AC9EA-1110-3013-66C9-877F1225CB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</a:t>
            </a:r>
            <a:r>
              <a:rPr lang="ko-KR" altLang="en-US" dirty="0"/>
              <a:t> 혼잡 제어</a:t>
            </a:r>
            <a:r>
              <a:rPr lang="en-US" altLang="ko-KR" dirty="0"/>
              <a:t>: </a:t>
            </a:r>
            <a:r>
              <a:rPr lang="ko-KR" altLang="en-US" dirty="0">
                <a:highlight>
                  <a:srgbClr val="FFFF00"/>
                </a:highlight>
              </a:rPr>
              <a:t>혼잡 회피 알고리즘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2181B19-3DDB-1148-96D1-6E249E11E5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637"/>
            <a:ext cx="10359189" cy="435133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혼잡 회피</a:t>
            </a:r>
            <a:r>
              <a:rPr lang="en-US" altLang="ko-KR" sz="2000" dirty="0"/>
              <a:t>: </a:t>
            </a:r>
            <a:r>
              <a:rPr lang="ko-KR" altLang="en-US" sz="2000" dirty="0"/>
              <a:t>혼잡 윈도우를 </a:t>
            </a:r>
            <a:r>
              <a:rPr lang="en-US" altLang="ko-KR" sz="2000" dirty="0"/>
              <a:t>1MSS</a:t>
            </a:r>
            <a:r>
              <a:rPr lang="ko-KR" altLang="en-US" sz="2000" dirty="0"/>
              <a:t>씩 증가시키는 알고리즘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선형적 증가</a:t>
            </a:r>
            <a:r>
              <a:rPr lang="en-US" altLang="ko-KR" sz="2000" dirty="0"/>
              <a:t>.</a:t>
            </a:r>
          </a:p>
        </p:txBody>
      </p:sp>
      <p:pic>
        <p:nvPicPr>
          <p:cNvPr id="4" name="그림 3" descr="텍스트, 라인, 도표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7D39B9C-F95A-1314-9AA4-69EDBA4B53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7154" y="2847415"/>
            <a:ext cx="5677692" cy="4010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44064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3BA783-E296-3D3F-E179-60A922AEF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E172B0-B10E-672E-6389-94CCF550F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</a:t>
            </a:r>
            <a:r>
              <a:rPr lang="ko-KR" altLang="en-US" dirty="0"/>
              <a:t> 혼잡 제어</a:t>
            </a:r>
            <a:r>
              <a:rPr lang="en-US" altLang="ko-KR" dirty="0"/>
              <a:t>: </a:t>
            </a:r>
            <a:r>
              <a:rPr lang="ko-KR" altLang="en-US" dirty="0">
                <a:highlight>
                  <a:srgbClr val="FFFF00"/>
                </a:highlight>
              </a:rPr>
              <a:t>빠른 회복 알고리즘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1D388E0-E2A4-3F01-2812-C436820FB5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637"/>
            <a:ext cx="10359189" cy="4351338"/>
          </a:xfrm>
        </p:spPr>
        <p:txBody>
          <a:bodyPr>
            <a:normAutofit/>
          </a:bodyPr>
          <a:lstStyle/>
          <a:p>
            <a:r>
              <a:rPr lang="ko-KR" altLang="en-US" sz="2000" dirty="0">
                <a:highlight>
                  <a:srgbClr val="FFFF00"/>
                </a:highlight>
              </a:rPr>
              <a:t>빠른 회복</a:t>
            </a:r>
            <a:r>
              <a:rPr lang="en-US" altLang="ko-KR" sz="2000" dirty="0"/>
              <a:t>: </a:t>
            </a:r>
            <a:r>
              <a:rPr lang="ko-KR" altLang="en-US" sz="2000" dirty="0"/>
              <a:t>세 번의 중복 </a:t>
            </a:r>
            <a:r>
              <a:rPr lang="en-US" altLang="ko-KR" sz="2000" dirty="0"/>
              <a:t>ACK </a:t>
            </a:r>
            <a:r>
              <a:rPr lang="ko-KR" altLang="en-US" sz="2000" dirty="0"/>
              <a:t>세그먼트를 수신했을 때 느린 시작은 건너뛰고 혼잡 회피를 수행하는 알고리즘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이름처럼 빠르게 전송률을 회복하기 위한 알고리즘</a:t>
            </a:r>
            <a:r>
              <a:rPr lang="en-US" altLang="ko-KR" sz="2000" dirty="0"/>
              <a:t>.</a:t>
            </a:r>
          </a:p>
        </p:txBody>
      </p:sp>
      <p:pic>
        <p:nvPicPr>
          <p:cNvPr id="5" name="그림 4" descr="라인, 도표, 텍스트, 그래프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EC8564A-A44E-4DE0-1B45-A937D6182E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37932" y="3128211"/>
            <a:ext cx="7655310" cy="3729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870485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A21A1F-997C-8AED-40A8-C767B3142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C52987-2492-D2F6-17CB-B613D5C14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TCP –</a:t>
            </a:r>
            <a:r>
              <a:rPr lang="ko-KR" altLang="en-US" dirty="0"/>
              <a:t> 혼잡 제어</a:t>
            </a:r>
            <a:r>
              <a:rPr lang="en-US" altLang="ko-KR" dirty="0"/>
              <a:t>: </a:t>
            </a:r>
            <a:r>
              <a:rPr lang="ko-KR" altLang="en-US" dirty="0">
                <a:highlight>
                  <a:srgbClr val="FFFF00"/>
                </a:highlight>
              </a:rPr>
              <a:t>명시적 혼잡 알림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615697B-C7F9-8FED-8AE2-CB9E42824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40637"/>
            <a:ext cx="10359189" cy="4351338"/>
          </a:xfrm>
        </p:spPr>
        <p:txBody>
          <a:bodyPr>
            <a:normAutofit/>
          </a:bodyPr>
          <a:lstStyle/>
          <a:p>
            <a:r>
              <a:rPr lang="en-US" altLang="ko-KR" sz="2000" dirty="0">
                <a:highlight>
                  <a:srgbClr val="FFFF00"/>
                </a:highlight>
              </a:rPr>
              <a:t>ECN: </a:t>
            </a:r>
            <a:r>
              <a:rPr lang="ko-KR" altLang="en-US" sz="2000" dirty="0"/>
              <a:t>명시적 혼잡 알림으로</a:t>
            </a:r>
            <a:r>
              <a:rPr lang="en-US" altLang="ko-KR" sz="2000" dirty="0"/>
              <a:t>, </a:t>
            </a:r>
            <a:r>
              <a:rPr lang="ko-KR" altLang="en-US" sz="2000" dirty="0"/>
              <a:t>송신 호스트 혼자 혼잡제어를 처리했다면</a:t>
            </a:r>
            <a:r>
              <a:rPr lang="en-US" altLang="ko-KR" sz="2000" dirty="0"/>
              <a:t>, </a:t>
            </a:r>
            <a:r>
              <a:rPr lang="ko-KR" altLang="en-US" sz="2000" dirty="0"/>
              <a:t>네트워크 중간 장치</a:t>
            </a:r>
            <a:r>
              <a:rPr lang="en-US" altLang="ko-KR" sz="2000" dirty="0"/>
              <a:t>(</a:t>
            </a:r>
            <a:r>
              <a:rPr lang="ko-KR" altLang="en-US" sz="2000" dirty="0"/>
              <a:t>라우터</a:t>
            </a:r>
            <a:r>
              <a:rPr lang="en-US" altLang="ko-KR" sz="2000" dirty="0"/>
              <a:t>)</a:t>
            </a:r>
            <a:r>
              <a:rPr lang="ko-KR" altLang="en-US" sz="2000" dirty="0"/>
              <a:t>의 도움을 받는 방법이 생겨남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선택적인 기능이기에 지원하는 호스트가 있고</a:t>
            </a:r>
            <a:r>
              <a:rPr lang="en-US" altLang="ko-KR" sz="2000" dirty="0"/>
              <a:t>, </a:t>
            </a:r>
            <a:r>
              <a:rPr lang="ko-KR" altLang="en-US" sz="2000" dirty="0"/>
              <a:t>지원하지 않는 호스트도 있음</a:t>
            </a:r>
            <a:r>
              <a:rPr lang="en-US" altLang="ko-KR" sz="2000" dirty="0"/>
              <a:t>.</a:t>
            </a:r>
          </a:p>
          <a:p>
            <a:r>
              <a:rPr lang="ko-KR" altLang="en-US" sz="2000" dirty="0"/>
              <a:t>더 빠르게 혼잡을 감지할 수 있다</a:t>
            </a:r>
            <a:r>
              <a:rPr lang="en-US" altLang="ko-KR" sz="2000" dirty="0"/>
              <a:t>.</a:t>
            </a:r>
          </a:p>
        </p:txBody>
      </p:sp>
      <p:pic>
        <p:nvPicPr>
          <p:cNvPr id="8" name="그림 7" descr="텍스트, 도표, 라인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90CAEC-3C65-DAB6-F5A3-886749A4D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7895" y="3557380"/>
            <a:ext cx="5516210" cy="3300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5718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717</Words>
  <Application>Microsoft Office PowerPoint</Application>
  <PresentationFormat>와이드스크린</PresentationFormat>
  <Paragraphs>86</Paragraphs>
  <Slides>31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31</vt:i4>
      </vt:variant>
    </vt:vector>
  </HeadingPairs>
  <TitlesOfParts>
    <vt:vector size="34" baseType="lpstr">
      <vt:lpstr>맑은 고딕</vt:lpstr>
      <vt:lpstr>Arial</vt:lpstr>
      <vt:lpstr>Office 테마</vt:lpstr>
      <vt:lpstr>혼자 공부하는 네트워크</vt:lpstr>
      <vt:lpstr>PowerPoint 프레젠테이션</vt:lpstr>
      <vt:lpstr>TCP와 UDP</vt:lpstr>
      <vt:lpstr>TCP 연결 수립/종료</vt:lpstr>
      <vt:lpstr>TCP 세그먼트 구조</vt:lpstr>
      <vt:lpstr>TCP - 제어비트</vt:lpstr>
      <vt:lpstr>TCP - 순서 번호</vt:lpstr>
      <vt:lpstr>TCP – 확인 응답 번호</vt:lpstr>
      <vt:lpstr>TCP – 연결 수립</vt:lpstr>
      <vt:lpstr>TCP – 연결 종료</vt:lpstr>
      <vt:lpstr>TCP 상태</vt:lpstr>
      <vt:lpstr>TCP 상태 - 연결안됨</vt:lpstr>
      <vt:lpstr>TCP 상태 - 연결수립</vt:lpstr>
      <vt:lpstr>TCP 상태 - 연결종료</vt:lpstr>
      <vt:lpstr>TCP 상태 - 연결종료</vt:lpstr>
      <vt:lpstr>UDP 데이터그램 구조</vt:lpstr>
      <vt:lpstr>TCP와 UDP의 차이</vt:lpstr>
      <vt:lpstr>TCP 데이터 송수신</vt:lpstr>
      <vt:lpstr>TCP – 오류 검출과 재전송</vt:lpstr>
      <vt:lpstr>TCP – 오류 검출과 재전송</vt:lpstr>
      <vt:lpstr>TCP – 오류 검출과 재전송</vt:lpstr>
      <vt:lpstr>TCP – 오류 검출과 재전송</vt:lpstr>
      <vt:lpstr>TCP – 오류 검출과 재전송</vt:lpstr>
      <vt:lpstr>TCP – 오류 검출과 재전송</vt:lpstr>
      <vt:lpstr>TCP – 오류 검출과 재전송</vt:lpstr>
      <vt:lpstr>TCP – 흐름 제어: 슬라이딩 윈도우</vt:lpstr>
      <vt:lpstr>TCP – 혼잡 제어: AIMD</vt:lpstr>
      <vt:lpstr>TCP – 혼잡 제어: 느린 시작 알고리즘</vt:lpstr>
      <vt:lpstr>TCP – 혼잡 제어: 혼잡 회피 알고리즘</vt:lpstr>
      <vt:lpstr>TCP – 혼잡 제어: 빠른 회복 알고리즘</vt:lpstr>
      <vt:lpstr>TCP – 혼잡 제어: 명시적 혼잡 알림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오승연</dc:creator>
  <cp:lastModifiedBy>오승연</cp:lastModifiedBy>
  <cp:revision>5</cp:revision>
  <dcterms:created xsi:type="dcterms:W3CDTF">2026-01-20T14:53:03Z</dcterms:created>
  <dcterms:modified xsi:type="dcterms:W3CDTF">2026-01-21T06:10:30Z</dcterms:modified>
</cp:coreProperties>
</file>