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4" r:id="rId19"/>
    <p:sldId id="273" r:id="rId20"/>
    <p:sldId id="275" r:id="rId21"/>
    <p:sldId id="27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/>
    <p:restoredTop sz="94657"/>
  </p:normalViewPr>
  <p:slideViewPr>
    <p:cSldViewPr snapToGrid="0">
      <p:cViewPr varScale="1">
        <p:scale>
          <a:sx n="102" d="100"/>
          <a:sy n="102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D9EED5-820D-2D77-F8F8-F30EFF048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71496E-9741-E0F8-E705-040FF212A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78FD67-7F8B-6C66-3559-AA0A77B08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A295-3A2C-8D4E-A134-7060FE49CDEC}" type="datetimeFigureOut">
              <a:rPr kumimoji="1" lang="ko-KR" altLang="en-US" smtClean="0"/>
              <a:t>2026. 1. 13.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6B55A3-1C7D-0CE9-BF33-9E520B437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51D822-DC48-EE6A-005D-1B9E5E330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E9B2-1DFC-3A4D-A5AD-436C91671E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40999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E88EB-DFD4-7050-0EB2-879F2842E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FF9206-352F-E63A-08A3-E19ECC9EA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574909-9735-BF20-DA2A-5F8FB9E5D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A295-3A2C-8D4E-A134-7060FE49CDEC}" type="datetimeFigureOut">
              <a:rPr kumimoji="1" lang="ko-KR" altLang="en-US" smtClean="0"/>
              <a:t>2026. 1. 13.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6D04C0-1C6F-AF9D-6FF6-F3B1308A7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47FF38-2808-44F4-3014-7DD372B61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E9B2-1DFC-3A4D-A5AD-436C91671E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35741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5EDC1-E1F6-885B-2DFD-874262B96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32C9CD-CD54-7A93-EA73-7D1C3B975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0FBD42-8D01-9691-AD2B-83DA966A7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A295-3A2C-8D4E-A134-7060FE49CDEC}" type="datetimeFigureOut">
              <a:rPr kumimoji="1" lang="ko-KR" altLang="en-US" smtClean="0"/>
              <a:t>2026. 1. 13.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E86B1C-4741-9A08-DE35-4A1778055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D1B9F6-996C-F9DD-A917-37C8CB0A9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E9B2-1DFC-3A4D-A5AD-436C91671E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2456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E52BBE-C92C-5151-0507-62FE97BA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3D78A-DE9B-C660-DD68-9E4395CFE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026D6A-F417-BC4E-40B1-0F1EBDC78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EA184B-27B1-31CC-1D91-B14705E30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A295-3A2C-8D4E-A134-7060FE49CDEC}" type="datetimeFigureOut">
              <a:rPr kumimoji="1" lang="ko-KR" altLang="en-US" smtClean="0"/>
              <a:t>2026. 1. 13.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EA2EEC-F18E-6D97-9567-6B7DE09A2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F7C252-0458-F47B-3496-7F92A2F8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E9B2-1DFC-3A4D-A5AD-436C91671E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270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3C043-CC58-47E0-50C3-CE9C474D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6B95FB-8326-E85F-FE28-04489FF84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408390-B0CC-9816-CDEE-D862578BF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7BD843E-AB6D-D542-D067-F5D7BA7BF7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B2E934-D21F-3190-4876-E3C96E2FE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EBD6B08-350C-C1DD-19D2-F092232F0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A295-3A2C-8D4E-A134-7060FE49CDEC}" type="datetimeFigureOut">
              <a:rPr kumimoji="1" lang="ko-KR" altLang="en-US" smtClean="0"/>
              <a:t>2026. 1. 13.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25CCA53-5C45-3BED-2C6A-5B8A718E3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4D0B096-4657-D3F1-AD42-F4F20B599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E9B2-1DFC-3A4D-A5AD-436C91671E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4090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B578-78A8-B859-E120-3DB7FBD4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BB0EFC-95AF-0B04-9B38-F32498999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A295-3A2C-8D4E-A134-7060FE49CDEC}" type="datetimeFigureOut">
              <a:rPr kumimoji="1" lang="ko-KR" altLang="en-US" smtClean="0"/>
              <a:t>2026. 1. 13.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7178BE-04C4-B5C2-132E-48DAE053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2C2D53-4287-9F51-094D-3F70CB14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E9B2-1DFC-3A4D-A5AD-436C91671E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21765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F6FC3DD-A546-A36C-9D84-BBA65C9FD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A295-3A2C-8D4E-A134-7060FE49CDEC}" type="datetimeFigureOut">
              <a:rPr kumimoji="1" lang="ko-KR" altLang="en-US" smtClean="0"/>
              <a:t>2026. 1. 13.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F5C9C02-A196-F359-7BCF-F9C338E82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507D6F-87DF-A49A-740F-5D8BB82B8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E9B2-1DFC-3A4D-A5AD-436C91671E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05709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EEBF2A-9316-1913-A98B-63DE13F0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8624A7-4D51-10A3-0A6D-969D8EFB4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FBA5CB-34E0-4C13-C273-6FE9F7454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2A9F00-899E-A690-65B9-745698BE0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A295-3A2C-8D4E-A134-7060FE49CDEC}" type="datetimeFigureOut">
              <a:rPr kumimoji="1" lang="ko-KR" altLang="en-US" smtClean="0"/>
              <a:t>2026. 1. 13.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6DA2C6-E42E-A35B-C7E7-243F4B50F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28F502-DE4C-2B05-5429-4AF1AD76E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E9B2-1DFC-3A4D-A5AD-436C91671E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6529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59CCAC-A8EF-DC88-3CFA-E5EBF1A3B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A1C0D3-5AF9-112F-2742-4590EC576E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AEAC52-FDA0-CE37-6833-953B64C75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134DB1-77DF-60D6-3742-C9EF42A9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A295-3A2C-8D4E-A134-7060FE49CDEC}" type="datetimeFigureOut">
              <a:rPr kumimoji="1" lang="ko-KR" altLang="en-US" smtClean="0"/>
              <a:t>2026. 1. 13.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3EA775-22F3-1493-3270-31F72280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35B81A-21F6-CAB0-24F9-E99AF62FB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E9B2-1DFC-3A4D-A5AD-436C91671E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40738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31F9B-E5E4-A51C-AB7D-19027266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E8A0B4-612F-3102-9853-7863725AC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473BFF-C239-F564-05D9-7D89FE8BF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A295-3A2C-8D4E-A134-7060FE49CDEC}" type="datetimeFigureOut">
              <a:rPr kumimoji="1" lang="ko-KR" altLang="en-US" smtClean="0"/>
              <a:t>2026. 1. 13.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D60F27-53CE-7721-ED29-8FCD87C3D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085E55-F98C-924A-E5E6-EE20AEAD6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E9B2-1DFC-3A4D-A5AD-436C91671E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72156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7654C5E-CAD7-28A1-E582-0CC95AD3D0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EA6F66-A619-009A-F3BD-AC465E628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2035E5-4F58-E238-2C02-5123F71F1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A295-3A2C-8D4E-A134-7060FE49CDEC}" type="datetimeFigureOut">
              <a:rPr kumimoji="1" lang="ko-KR" altLang="en-US" smtClean="0"/>
              <a:t>2026. 1. 13.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8E9DAD-DD5C-207C-2039-1122C19FD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AE0A7C-0D0C-088B-CB42-405F07DBD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E9B2-1DFC-3A4D-A5AD-436C91671E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14237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39B8005-1B4A-A9D6-D1D2-AA71D4B70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840AF7-EDED-BA72-5665-3DE231106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3800A6-41B3-74DE-B1D4-D9C12FBEB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ECA295-3A2C-8D4E-A134-7060FE49CDEC}" type="datetimeFigureOut">
              <a:rPr kumimoji="1" lang="ko-KR" altLang="en-US" smtClean="0"/>
              <a:t>2026. 1. 13.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D1756D-80D6-B2C2-FD58-1FB04A0F1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6BED2A-629F-FEAC-F555-5B59AEEE2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FE9B2-1DFC-3A4D-A5AD-436C91671E8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3957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285AE9-0FB1-9490-1058-77C134D51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921" y="1122363"/>
            <a:ext cx="9795353" cy="2387600"/>
          </a:xfrm>
        </p:spPr>
        <p:txBody>
          <a:bodyPr/>
          <a:lstStyle/>
          <a:p>
            <a:r>
              <a:rPr kumimoji="1" lang="ko-KR" altLang="en-US" dirty="0"/>
              <a:t>물리계층과 </a:t>
            </a:r>
            <a:r>
              <a:rPr kumimoji="1" lang="ko-KR" altLang="en-US" dirty="0" err="1"/>
              <a:t>데이터링크계층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355387-DEA4-7327-FCFE-DB7883DC6C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kumimoji="1" lang="en-US" altLang="ko-KR" dirty="0"/>
              <a:t>02-1</a:t>
            </a:r>
            <a:r>
              <a:rPr kumimoji="1" lang="ko-KR" altLang="en-US" dirty="0"/>
              <a:t> 이더넷</a:t>
            </a:r>
            <a:endParaRPr kumimoji="1" lang="en-US" altLang="ko-KR" dirty="0"/>
          </a:p>
          <a:p>
            <a:pPr algn="r"/>
            <a:r>
              <a:rPr kumimoji="1" lang="en-US" altLang="ko-KR" dirty="0"/>
              <a:t>02-2</a:t>
            </a:r>
            <a:r>
              <a:rPr kumimoji="1" lang="ko-KR" altLang="en-US" dirty="0"/>
              <a:t> </a:t>
            </a:r>
            <a:r>
              <a:rPr kumimoji="1" lang="en-US" altLang="ko-KR" dirty="0"/>
              <a:t>NIC</a:t>
            </a:r>
            <a:r>
              <a:rPr kumimoji="1" lang="ko-KR" altLang="en-US" dirty="0"/>
              <a:t>와 케이블</a:t>
            </a:r>
          </a:p>
        </p:txBody>
      </p:sp>
    </p:spTree>
    <p:extLst>
      <p:ext uri="{BB962C8B-B14F-4D97-AF65-F5344CB8AC3E}">
        <p14:creationId xmlns:p14="http://schemas.microsoft.com/office/powerpoint/2010/main" val="794329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네트워크 통신 계층: OSI 7 계층 바로 알기 | SharedIT - IT 지식 공유 네트워크">
            <a:extLst>
              <a:ext uri="{FF2B5EF4-FFF2-40B4-BE49-F238E27FC236}">
                <a16:creationId xmlns:a16="http://schemas.microsoft.com/office/drawing/2014/main" id="{C0AB7516-1529-09D2-9222-6D4F8B208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581" y="606072"/>
            <a:ext cx="4480838" cy="5645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액자 1">
            <a:extLst>
              <a:ext uri="{FF2B5EF4-FFF2-40B4-BE49-F238E27FC236}">
                <a16:creationId xmlns:a16="http://schemas.microsoft.com/office/drawing/2014/main" id="{E507421F-EEAE-49B7-61D5-578C0D111E54}"/>
              </a:ext>
            </a:extLst>
          </p:cNvPr>
          <p:cNvSpPr/>
          <p:nvPr/>
        </p:nvSpPr>
        <p:spPr>
          <a:xfrm>
            <a:off x="3757808" y="4634630"/>
            <a:ext cx="4684734" cy="1617298"/>
          </a:xfrm>
          <a:prstGeom prst="frame">
            <a:avLst>
              <a:gd name="adj1" fmla="val 70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415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BD8A5-B120-7251-4CC7-065CD26E5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이더넷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D57920-C676-CA9B-86F2-200321CEE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컴퓨터 사이 송수신 프레임 형태</a:t>
            </a:r>
            <a:endParaRPr kumimoji="1" lang="en-US" altLang="ko-KR" dirty="0"/>
          </a:p>
          <a:p>
            <a:r>
              <a:rPr kumimoji="1" lang="ko-KR" altLang="en-US" dirty="0"/>
              <a:t>케이블</a:t>
            </a:r>
            <a:endParaRPr kumimoji="1" lang="en-US" altLang="ko-KR" dirty="0"/>
          </a:p>
          <a:p>
            <a:r>
              <a:rPr kumimoji="1" lang="ko-KR" altLang="en-US" dirty="0"/>
              <a:t>유선</a:t>
            </a:r>
            <a:r>
              <a:rPr kumimoji="1" lang="en-US" altLang="ko-KR" dirty="0"/>
              <a:t>LAN</a:t>
            </a:r>
          </a:p>
          <a:p>
            <a:r>
              <a:rPr kumimoji="1" lang="ko-KR" altLang="en-US" dirty="0"/>
              <a:t>표준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IEEE 802.3</a:t>
            </a:r>
            <a:endParaRPr kumimoji="1" lang="ko-KR" altLang="en-US" dirty="0"/>
          </a:p>
        </p:txBody>
      </p:sp>
      <p:pic>
        <p:nvPicPr>
          <p:cNvPr id="2052" name="Picture 4" descr="세신버팔로 UTP 랜 케이블 인터넷연결선 랜선 2M (220-4743)">
            <a:extLst>
              <a:ext uri="{FF2B5EF4-FFF2-40B4-BE49-F238E27FC236}">
                <a16:creationId xmlns:a16="http://schemas.microsoft.com/office/drawing/2014/main" id="{6D70ED60-4C86-E056-DED3-DFBBA3D79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485" y="1825625"/>
            <a:ext cx="4102274" cy="410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580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3298C-6FC4-1A1C-562E-971E81603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C520E-F1BE-92ED-0196-C82885985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통신 매체 표기형태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E1DA32-9EBD-25DB-867E-9A0863DE1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ko-KR" altLang="en-US" dirty="0"/>
              <a:t>전송속도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Mbps / Gbps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ko-KR" dirty="0"/>
              <a:t>BASE: </a:t>
            </a:r>
            <a:r>
              <a:rPr kumimoji="1" lang="ko-KR" altLang="en-US" dirty="0"/>
              <a:t>비트데이터를 통신매체로 전송하는 방법</a:t>
            </a:r>
            <a:r>
              <a:rPr kumimoji="1" lang="en-US" altLang="ko-KR" dirty="0"/>
              <a:t>(=</a:t>
            </a:r>
            <a:r>
              <a:rPr kumimoji="1" lang="ko-KR" altLang="en-US" dirty="0"/>
              <a:t>변조타입</a:t>
            </a:r>
            <a:r>
              <a:rPr kumimoji="1" lang="en-US" altLang="ko-KR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ko-KR" altLang="en-US" dirty="0"/>
              <a:t>추가특성</a:t>
            </a:r>
            <a:r>
              <a:rPr kumimoji="1" lang="en-US" altLang="ko-KR" dirty="0"/>
              <a:t>:</a:t>
            </a:r>
            <a:r>
              <a:rPr kumimoji="1" lang="ko-KR" altLang="en-US" dirty="0"/>
              <a:t> 전송최대거리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인코딩방식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레인수</a:t>
            </a:r>
            <a:r>
              <a:rPr kumimoji="1" lang="en-US" altLang="ko-KR" dirty="0"/>
              <a:t>…</a:t>
            </a:r>
            <a:r>
              <a:rPr kumimoji="1" lang="ko-KR" altLang="en-US" dirty="0"/>
              <a:t>등등</a:t>
            </a:r>
            <a:endParaRPr kumimoji="1" lang="en-US" altLang="ko-KR" dirty="0"/>
          </a:p>
          <a:p>
            <a:pPr marL="514350" indent="-514350">
              <a:buFont typeface="+mj-lt"/>
              <a:buAutoNum type="arabicPeriod"/>
            </a:pP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A80727-FA42-7A79-BF8E-D19D7C175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850" y="3429000"/>
            <a:ext cx="69723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894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3172D-AEEB-4C8D-2AE7-31D57DAF3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60045E-C71D-8358-4338-932475FC3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통신 매체 종류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04E0320-53DE-C8BF-1FE7-5EAF0D92C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45" y="1691238"/>
            <a:ext cx="4408684" cy="177957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0E73182-275B-600D-801E-B549CC4EA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9" y="3573815"/>
            <a:ext cx="7772400" cy="319522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E327B7E-A404-04EA-1FAB-4275A00D4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772" y="2050023"/>
            <a:ext cx="6743178" cy="12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698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E407-12A3-45DB-DCE2-F9BC8A8DC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87A3B-9F99-6B70-7958-CABB694B7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이더넷 프레임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88F5AF-3AAA-9AAA-E41A-AA8203F5D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캡슐화</a:t>
            </a:r>
            <a:r>
              <a:rPr kumimoji="1" lang="en-US" altLang="ko-KR" dirty="0"/>
              <a:t>:</a:t>
            </a:r>
            <a:r>
              <a:rPr kumimoji="1" lang="ko-KR" altLang="en-US" dirty="0"/>
              <a:t> 헤더</a:t>
            </a:r>
            <a:r>
              <a:rPr kumimoji="1" lang="en-US" altLang="ko-KR" dirty="0"/>
              <a:t>,</a:t>
            </a:r>
            <a:r>
              <a:rPr kumimoji="1" lang="ko-KR" altLang="en-US" dirty="0"/>
              <a:t> 트레일러 추가</a:t>
            </a:r>
            <a:endParaRPr kumimoji="1" lang="en-US" altLang="ko-KR" dirty="0"/>
          </a:p>
          <a:p>
            <a:r>
              <a:rPr kumimoji="1" lang="ko-KR" altLang="en-US" dirty="0"/>
              <a:t>역캡슐화</a:t>
            </a:r>
            <a:r>
              <a:rPr kumimoji="1" lang="en-US" altLang="ko-KR" dirty="0"/>
              <a:t>:</a:t>
            </a:r>
            <a:r>
              <a:rPr kumimoji="1" lang="ko-KR" altLang="en-US" dirty="0"/>
              <a:t> 헤더</a:t>
            </a:r>
            <a:r>
              <a:rPr kumimoji="1" lang="en-US" altLang="ko-KR" dirty="0"/>
              <a:t>,</a:t>
            </a:r>
            <a:r>
              <a:rPr kumimoji="1" lang="ko-KR" altLang="en-US" dirty="0"/>
              <a:t> 트레일러 제거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FA3DCA-F302-2631-230D-0784ADB42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30" y="3429000"/>
            <a:ext cx="10881139" cy="208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37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580AD-93D7-B452-0326-1372EE89A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B7AD3-551C-7EA9-C318-513A64C0B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이더넷 프레임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F10EE8-2DB8-C150-2443-40822BCE3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 err="1">
                <a:highlight>
                  <a:srgbClr val="FFFF00"/>
                </a:highlight>
              </a:rPr>
              <a:t>프리앰블</a:t>
            </a:r>
            <a:endParaRPr kumimoji="1" lang="en-US" altLang="ko-KR" dirty="0">
              <a:highlight>
                <a:srgbClr val="FFFF00"/>
              </a:highlight>
            </a:endParaRPr>
          </a:p>
          <a:p>
            <a:r>
              <a:rPr kumimoji="1" lang="en-US" altLang="ko-KR" dirty="0"/>
              <a:t>8</a:t>
            </a:r>
            <a:r>
              <a:rPr kumimoji="1" lang="ko-KR" altLang="en-US" dirty="0"/>
              <a:t>바이트</a:t>
            </a:r>
            <a:endParaRPr kumimoji="1" lang="en-US" altLang="ko-KR" dirty="0"/>
          </a:p>
          <a:p>
            <a:r>
              <a:rPr kumimoji="1" lang="ko-KR" altLang="en-US" dirty="0" err="1"/>
              <a:t>이더넷프레임의</a:t>
            </a:r>
            <a:r>
              <a:rPr kumimoji="1" lang="ko-KR" altLang="en-US" dirty="0"/>
              <a:t> 시작을 알리는 정보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5667E80-8934-237E-3F8C-58DA8FF96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516" y="260764"/>
            <a:ext cx="6934307" cy="1325563"/>
          </a:xfrm>
          <a:prstGeom prst="rect">
            <a:avLst/>
          </a:prstGeom>
        </p:spPr>
      </p:pic>
      <p:sp>
        <p:nvSpPr>
          <p:cNvPr id="4" name="액자 3">
            <a:extLst>
              <a:ext uri="{FF2B5EF4-FFF2-40B4-BE49-F238E27FC236}">
                <a16:creationId xmlns:a16="http://schemas.microsoft.com/office/drawing/2014/main" id="{E5EF445B-534E-DA2C-79FA-E589A709F3FE}"/>
              </a:ext>
            </a:extLst>
          </p:cNvPr>
          <p:cNvSpPr/>
          <p:nvPr/>
        </p:nvSpPr>
        <p:spPr>
          <a:xfrm>
            <a:off x="4965516" y="638827"/>
            <a:ext cx="921717" cy="526094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8839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B22C1-F578-B045-1187-02B57CA90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210A30-75C8-582E-4A81-94FC21F0A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이더넷 프레임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9C9026-2F24-3841-47CF-9E9650F39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수신지</a:t>
            </a:r>
            <a:r>
              <a:rPr kumimoji="1" lang="en-US" altLang="ko-KR" dirty="0"/>
              <a:t>/</a:t>
            </a:r>
            <a:r>
              <a:rPr kumimoji="1" lang="ko-KR" altLang="en-US" dirty="0"/>
              <a:t>송신지 </a:t>
            </a:r>
            <a:r>
              <a:rPr kumimoji="1" lang="en-US" altLang="ko-KR" dirty="0">
                <a:highlight>
                  <a:srgbClr val="FFFF00"/>
                </a:highlight>
              </a:rPr>
              <a:t>MAC</a:t>
            </a:r>
            <a:r>
              <a:rPr kumimoji="1" lang="ko-KR" altLang="en-US" dirty="0">
                <a:highlight>
                  <a:srgbClr val="FFFF00"/>
                </a:highlight>
              </a:rPr>
              <a:t>주소</a:t>
            </a:r>
            <a:endParaRPr kumimoji="1" lang="en-US" altLang="ko-KR" dirty="0">
              <a:highlight>
                <a:srgbClr val="FFFF00"/>
              </a:highlight>
            </a:endParaRPr>
          </a:p>
          <a:p>
            <a:r>
              <a:rPr kumimoji="1" lang="en-US" altLang="ko-KR" dirty="0"/>
              <a:t>6</a:t>
            </a:r>
            <a:r>
              <a:rPr kumimoji="1" lang="ko-KR" altLang="en-US" dirty="0"/>
              <a:t>바이트</a:t>
            </a:r>
            <a:r>
              <a:rPr kumimoji="1" lang="en-US" altLang="ko-KR" dirty="0"/>
              <a:t>/6</a:t>
            </a:r>
            <a:r>
              <a:rPr kumimoji="1" lang="ko-KR" altLang="en-US" dirty="0"/>
              <a:t>바이트</a:t>
            </a:r>
            <a:endParaRPr kumimoji="1" lang="en-US" altLang="ko-KR" dirty="0"/>
          </a:p>
          <a:p>
            <a:r>
              <a:rPr kumimoji="1" lang="ko-KR" altLang="en-US" dirty="0"/>
              <a:t>일반적으로 고유하고 변경되지 않는 네트워크 물리적 주소</a:t>
            </a:r>
            <a:endParaRPr kumimoji="1" lang="en-US" altLang="ko-KR" dirty="0"/>
          </a:p>
          <a:p>
            <a:r>
              <a:rPr kumimoji="1" lang="ko-KR" altLang="en-US" dirty="0"/>
              <a:t>윈도우에서 </a:t>
            </a:r>
            <a:r>
              <a:rPr kumimoji="1" lang="en-US" altLang="ko-KR" dirty="0"/>
              <a:t>ipconfig</a:t>
            </a:r>
            <a:r>
              <a:rPr kumimoji="1" lang="ko-KR" altLang="en-US" dirty="0"/>
              <a:t>하면 나오는 주소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C5E565-7A38-2247-0D1F-D63BDA563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516" y="260764"/>
            <a:ext cx="6934307" cy="1325563"/>
          </a:xfrm>
          <a:prstGeom prst="rect">
            <a:avLst/>
          </a:prstGeom>
        </p:spPr>
      </p:pic>
      <p:sp>
        <p:nvSpPr>
          <p:cNvPr id="4" name="액자 3">
            <a:extLst>
              <a:ext uri="{FF2B5EF4-FFF2-40B4-BE49-F238E27FC236}">
                <a16:creationId xmlns:a16="http://schemas.microsoft.com/office/drawing/2014/main" id="{090BB476-E58D-4452-EF32-BA81C141112E}"/>
              </a:ext>
            </a:extLst>
          </p:cNvPr>
          <p:cNvSpPr/>
          <p:nvPr/>
        </p:nvSpPr>
        <p:spPr>
          <a:xfrm>
            <a:off x="5729603" y="660498"/>
            <a:ext cx="2687887" cy="526094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49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92801-C907-68EA-8855-B835863B9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292B58-2461-B979-38CE-A95F0DBAF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이더넷 프레임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E46F33-4586-C8C6-BCD5-FB87CF17D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>
                <a:highlight>
                  <a:srgbClr val="FFFF00"/>
                </a:highlight>
              </a:rPr>
              <a:t>타입</a:t>
            </a:r>
            <a:r>
              <a:rPr kumimoji="1" lang="en-US" altLang="ko-KR" dirty="0">
                <a:highlight>
                  <a:srgbClr val="FFFF00"/>
                </a:highlight>
              </a:rPr>
              <a:t>/</a:t>
            </a:r>
            <a:r>
              <a:rPr kumimoji="1" lang="ko-KR" altLang="en-US" dirty="0">
                <a:highlight>
                  <a:srgbClr val="FFFF00"/>
                </a:highlight>
              </a:rPr>
              <a:t>길이</a:t>
            </a:r>
            <a:endParaRPr kumimoji="1" lang="en-US" altLang="ko-KR" dirty="0">
              <a:highlight>
                <a:srgbClr val="FFFF00"/>
              </a:highlight>
            </a:endParaRPr>
          </a:p>
          <a:p>
            <a:r>
              <a:rPr kumimoji="1" lang="en-US" altLang="ko-KR" dirty="0"/>
              <a:t>2</a:t>
            </a:r>
            <a:r>
              <a:rPr kumimoji="1" lang="ko-KR" altLang="en-US" dirty="0"/>
              <a:t>바이트</a:t>
            </a:r>
            <a:endParaRPr kumimoji="1" lang="en-US" altLang="ko-KR" dirty="0"/>
          </a:p>
          <a:p>
            <a:r>
              <a:rPr kumimoji="1" lang="ko-KR" altLang="en-US" dirty="0"/>
              <a:t>타입</a:t>
            </a:r>
            <a:r>
              <a:rPr kumimoji="1" lang="en-US" altLang="ko-KR" dirty="0"/>
              <a:t>:</a:t>
            </a:r>
            <a:r>
              <a:rPr kumimoji="1" lang="ko-KR" altLang="en-US" dirty="0"/>
              <a:t> 어떤 정보를 </a:t>
            </a:r>
            <a:r>
              <a:rPr kumimoji="1" lang="ko-KR" altLang="en-US" dirty="0" err="1"/>
              <a:t>캡슐화했는지</a:t>
            </a:r>
            <a:r>
              <a:rPr kumimoji="1" lang="ko-KR" altLang="en-US" dirty="0"/>
              <a:t> 나타내는 정보</a:t>
            </a:r>
            <a:endParaRPr kumimoji="1" lang="en-US" altLang="ko-KR" dirty="0"/>
          </a:p>
          <a:p>
            <a:r>
              <a:rPr kumimoji="1" lang="ko-KR" altLang="en-US" dirty="0"/>
              <a:t>보통 상위 계층에서 사용된 프로토콜의 이름 명시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E7FD9F-CD3D-FB56-8D88-3F4FB7751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516" y="260764"/>
            <a:ext cx="6934307" cy="1325563"/>
          </a:xfrm>
          <a:prstGeom prst="rect">
            <a:avLst/>
          </a:prstGeom>
        </p:spPr>
      </p:pic>
      <p:sp>
        <p:nvSpPr>
          <p:cNvPr id="4" name="액자 3">
            <a:extLst>
              <a:ext uri="{FF2B5EF4-FFF2-40B4-BE49-F238E27FC236}">
                <a16:creationId xmlns:a16="http://schemas.microsoft.com/office/drawing/2014/main" id="{3F77A697-837B-6788-4035-9AE433E91349}"/>
              </a:ext>
            </a:extLst>
          </p:cNvPr>
          <p:cNvSpPr/>
          <p:nvPr/>
        </p:nvSpPr>
        <p:spPr>
          <a:xfrm>
            <a:off x="8335017" y="648090"/>
            <a:ext cx="796457" cy="526094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37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0D857-FC0E-4BC7-B7D4-FCB810A59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0F778-956C-3975-E985-4E7F04076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이더넷 프레임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CC4FEC-2773-30D1-7FD8-FD89EE37A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>
                <a:highlight>
                  <a:srgbClr val="FFFF00"/>
                </a:highlight>
              </a:rPr>
              <a:t>데이터</a:t>
            </a:r>
            <a:endParaRPr kumimoji="1" lang="en-US" altLang="ko-KR" dirty="0">
              <a:highlight>
                <a:srgbClr val="FFFF00"/>
              </a:highlight>
            </a:endParaRPr>
          </a:p>
          <a:p>
            <a:r>
              <a:rPr kumimoji="1" lang="en-US" altLang="ko-KR" dirty="0"/>
              <a:t>46~1500</a:t>
            </a:r>
            <a:r>
              <a:rPr kumimoji="1" lang="ko-KR" altLang="en-US" dirty="0"/>
              <a:t>바이트</a:t>
            </a:r>
            <a:endParaRPr kumimoji="1" lang="en-US" altLang="ko-KR" dirty="0"/>
          </a:p>
          <a:p>
            <a:r>
              <a:rPr kumimoji="1" lang="ko-KR" altLang="en-US" dirty="0"/>
              <a:t>상위계층에서 전달받거나 </a:t>
            </a:r>
            <a:r>
              <a:rPr kumimoji="1" lang="ko-KR" altLang="en-US" dirty="0" err="1"/>
              <a:t>전달해야할</a:t>
            </a:r>
            <a:r>
              <a:rPr kumimoji="1" lang="ko-KR" altLang="en-US" dirty="0"/>
              <a:t> 내용</a:t>
            </a:r>
            <a:endParaRPr kumimoji="1" lang="en-US" altLang="ko-KR" dirty="0"/>
          </a:p>
          <a:p>
            <a:r>
              <a:rPr kumimoji="1" lang="en-US" altLang="ko-KR" dirty="0"/>
              <a:t>46</a:t>
            </a:r>
            <a:r>
              <a:rPr kumimoji="1" lang="ko-KR" altLang="en-US" dirty="0"/>
              <a:t>바이트 이하이면 패딩</a:t>
            </a:r>
            <a:r>
              <a:rPr kumimoji="1" lang="en-US" altLang="ko-KR" dirty="0"/>
              <a:t>(0)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채움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AC66A4-3F0B-88EB-165A-DC420C7B4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516" y="260764"/>
            <a:ext cx="6934307" cy="1325563"/>
          </a:xfrm>
          <a:prstGeom prst="rect">
            <a:avLst/>
          </a:prstGeom>
        </p:spPr>
      </p:pic>
      <p:sp>
        <p:nvSpPr>
          <p:cNvPr id="4" name="액자 3">
            <a:extLst>
              <a:ext uri="{FF2B5EF4-FFF2-40B4-BE49-F238E27FC236}">
                <a16:creationId xmlns:a16="http://schemas.microsoft.com/office/drawing/2014/main" id="{CE9FE237-558F-A0AD-7548-8D7AE253AFD8}"/>
              </a:ext>
            </a:extLst>
          </p:cNvPr>
          <p:cNvSpPr/>
          <p:nvPr/>
        </p:nvSpPr>
        <p:spPr>
          <a:xfrm>
            <a:off x="9061526" y="660498"/>
            <a:ext cx="1973904" cy="526094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5552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E910C-632B-88DD-D9FD-738956990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F5CF8-A9A5-CB31-2373-0B341D161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이더넷 프레임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3C687C-7B5B-ED9F-5ADF-42EA4021E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>
                <a:highlight>
                  <a:srgbClr val="FFFF00"/>
                </a:highlight>
              </a:rPr>
              <a:t>FCS</a:t>
            </a:r>
          </a:p>
          <a:p>
            <a:r>
              <a:rPr kumimoji="1" lang="en-US" altLang="ko-KR" dirty="0"/>
              <a:t>4</a:t>
            </a:r>
            <a:r>
              <a:rPr kumimoji="1" lang="ko-KR" altLang="en-US" dirty="0"/>
              <a:t>바이트</a:t>
            </a:r>
            <a:endParaRPr kumimoji="1" lang="en-US" altLang="ko-KR" dirty="0"/>
          </a:p>
          <a:p>
            <a:r>
              <a:rPr kumimoji="1" lang="ko-KR" altLang="en-US" dirty="0" err="1"/>
              <a:t>오류검출</a:t>
            </a:r>
            <a:endParaRPr kumimoji="1" lang="en-US" altLang="ko-KR" dirty="0"/>
          </a:p>
          <a:p>
            <a:r>
              <a:rPr kumimoji="1" lang="en-US" altLang="ko-KR" dirty="0"/>
              <a:t>CRC(</a:t>
            </a:r>
            <a:r>
              <a:rPr kumimoji="1" lang="ko-KR" altLang="en-US" dirty="0"/>
              <a:t>순환중복검사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BAD7A7-8063-B3CB-00C3-892BE2A4E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516" y="260764"/>
            <a:ext cx="6934307" cy="1325563"/>
          </a:xfrm>
          <a:prstGeom prst="rect">
            <a:avLst/>
          </a:prstGeom>
        </p:spPr>
      </p:pic>
      <p:sp>
        <p:nvSpPr>
          <p:cNvPr id="4" name="액자 3">
            <a:extLst>
              <a:ext uri="{FF2B5EF4-FFF2-40B4-BE49-F238E27FC236}">
                <a16:creationId xmlns:a16="http://schemas.microsoft.com/office/drawing/2014/main" id="{764549BF-624A-CFB7-888E-B6B9666793CE}"/>
              </a:ext>
            </a:extLst>
          </p:cNvPr>
          <p:cNvSpPr/>
          <p:nvPr/>
        </p:nvSpPr>
        <p:spPr>
          <a:xfrm>
            <a:off x="10955571" y="660498"/>
            <a:ext cx="796457" cy="526094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9979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0113F-0902-9D96-99CD-C592B2679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A714CE-CB80-F84B-F9DF-38DF32608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* </a:t>
            </a:r>
            <a:r>
              <a:rPr kumimoji="1" lang="ko-KR" altLang="en-US" dirty="0" err="1"/>
              <a:t>토큰링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ko-KR" altLang="en-US" dirty="0"/>
              <a:t>참고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6F9850-3FF0-C6C2-8977-FCA53ABCD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 err="1"/>
              <a:t>이더넷말고</a:t>
            </a:r>
            <a:r>
              <a:rPr kumimoji="1" lang="ko-KR" altLang="en-US" dirty="0"/>
              <a:t> 다른 </a:t>
            </a:r>
            <a:r>
              <a:rPr kumimoji="1" lang="en-US" altLang="ko-KR" dirty="0"/>
              <a:t>LAN</a:t>
            </a:r>
            <a:r>
              <a:rPr kumimoji="1" lang="ko-KR" altLang="en-US" dirty="0"/>
              <a:t>기술</a:t>
            </a:r>
            <a:endParaRPr kumimoji="1" lang="en-US" altLang="ko-KR" dirty="0"/>
          </a:p>
          <a:p>
            <a:r>
              <a:rPr kumimoji="1" lang="ko-KR" altLang="en-US" dirty="0"/>
              <a:t>토큰 가진 애만 </a:t>
            </a:r>
            <a:r>
              <a:rPr kumimoji="1" lang="ko-KR" altLang="en-US" dirty="0" err="1"/>
              <a:t>메세지</a:t>
            </a:r>
            <a:r>
              <a:rPr kumimoji="1" lang="ko-KR" altLang="en-US" dirty="0"/>
              <a:t> 송신 가능</a:t>
            </a:r>
            <a:endParaRPr kumimoji="1" lang="en-US" altLang="ko-KR" dirty="0"/>
          </a:p>
          <a:p>
            <a:r>
              <a:rPr kumimoji="1" lang="ko-KR" altLang="en-US" dirty="0"/>
              <a:t>토큰 돌아가며 가짐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A310CD-99D7-6E43-A0FD-B7996CD37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172" y="2392471"/>
            <a:ext cx="4527581" cy="367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808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6B5C0-5903-3AD2-756B-BB5596B82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C598341-ACA2-7019-B314-B32C3210E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01" y="200416"/>
            <a:ext cx="9255066" cy="641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41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86924-CAF6-3C8F-C626-BE2FFB583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DB903-7E99-31C0-38E6-5E05F8A98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 err="1"/>
              <a:t>트위스티드</a:t>
            </a:r>
            <a:r>
              <a:rPr kumimoji="1" lang="ko-KR" altLang="en-US" dirty="0"/>
              <a:t> 페어 케이블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1DF7F1-0DE1-8B52-7AA8-A5EBB36F1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케이블 본체</a:t>
            </a:r>
            <a:endParaRPr kumimoji="1" lang="en-US" altLang="ko-KR" dirty="0"/>
          </a:p>
          <a:p>
            <a:r>
              <a:rPr kumimoji="1" lang="ko-KR" altLang="en-US" dirty="0"/>
              <a:t>커넥터 </a:t>
            </a:r>
            <a:r>
              <a:rPr kumimoji="1" lang="en-US" altLang="ko-KR" dirty="0"/>
              <a:t>(RJ-45)</a:t>
            </a:r>
          </a:p>
          <a:p>
            <a:r>
              <a:rPr kumimoji="1" lang="ko-KR" altLang="en-US" dirty="0"/>
              <a:t>구리선이라 노이즈에 민감</a:t>
            </a:r>
            <a:endParaRPr kumimoji="1" lang="en-US" altLang="ko-KR" dirty="0"/>
          </a:p>
          <a:p>
            <a:r>
              <a:rPr kumimoji="1" lang="ko-KR" altLang="en-US" dirty="0" err="1"/>
              <a:t>브레이드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실드</a:t>
            </a:r>
            <a:r>
              <a:rPr kumimoji="1" lang="ko-KR" altLang="en-US" dirty="0"/>
              <a:t> </a:t>
            </a:r>
            <a:r>
              <a:rPr kumimoji="1" lang="en-US" altLang="ko-KR" dirty="0"/>
              <a:t>/</a:t>
            </a:r>
            <a:r>
              <a:rPr kumimoji="1" lang="ko-KR" altLang="en-US" dirty="0"/>
              <a:t> 포일 </a:t>
            </a:r>
            <a:r>
              <a:rPr kumimoji="1" lang="ko-KR" altLang="en-US" dirty="0" err="1"/>
              <a:t>실드로</a:t>
            </a:r>
            <a:r>
              <a:rPr kumimoji="1" lang="ko-KR" altLang="en-US" dirty="0"/>
              <a:t> 감싸 보호 </a:t>
            </a:r>
            <a:r>
              <a:rPr kumimoji="1" lang="en-US" altLang="ko-KR" dirty="0"/>
              <a:t>(=</a:t>
            </a:r>
            <a:r>
              <a:rPr kumimoji="1" lang="ko-KR" altLang="en-US" dirty="0"/>
              <a:t>차폐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316A68-91C2-EF48-C5B3-9ECE21D55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90" y="4310063"/>
            <a:ext cx="3175000" cy="1866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0C4B416-38CC-C967-A17A-3432DF072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869" y="4246563"/>
            <a:ext cx="4876800" cy="193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51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1D3AB-A96F-4E3C-3554-CFCAD1B80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4E0922-DF5D-37DD-A38D-7ADBDEA1C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 err="1"/>
              <a:t>트위스티드</a:t>
            </a:r>
            <a:r>
              <a:rPr kumimoji="1" lang="ko-KR" altLang="en-US" dirty="0"/>
              <a:t> 페어 케이블 분류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95D517-1ED9-9DA5-48D8-6364D902E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STP: </a:t>
            </a:r>
            <a:r>
              <a:rPr kumimoji="1" lang="ko-KR" altLang="en-US" dirty="0" err="1"/>
              <a:t>브레이드실드로</a:t>
            </a:r>
            <a:r>
              <a:rPr kumimoji="1" lang="ko-KR" altLang="en-US" dirty="0"/>
              <a:t> 감싸</a:t>
            </a:r>
            <a:endParaRPr kumimoji="1" lang="en-US" altLang="ko-KR" dirty="0"/>
          </a:p>
          <a:p>
            <a:r>
              <a:rPr kumimoji="1" lang="en-US" altLang="ko-KR" dirty="0"/>
              <a:t>FTP: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포일실드로</a:t>
            </a:r>
            <a:r>
              <a:rPr kumimoji="1" lang="ko-KR" altLang="en-US" dirty="0"/>
              <a:t> 감싸</a:t>
            </a:r>
            <a:endParaRPr kumimoji="1" lang="en-US" altLang="ko-KR" dirty="0"/>
          </a:p>
          <a:p>
            <a:r>
              <a:rPr kumimoji="1" lang="en-US" altLang="ko-KR" dirty="0"/>
              <a:t>UTP:</a:t>
            </a:r>
            <a:r>
              <a:rPr kumimoji="1" lang="ko-KR" altLang="en-US" dirty="0"/>
              <a:t> 구리선만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B435C68-928F-3AA0-1069-64081D09D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236" y="3877733"/>
            <a:ext cx="7772400" cy="229923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B5E0973-D956-4ADE-9659-A1F603A73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92" y="4475452"/>
            <a:ext cx="2519976" cy="110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84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94259-E2C0-6260-650E-7012C8AC4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700909-C5EB-6E76-4AD3-7DBDA025D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 err="1"/>
              <a:t>트위스티드</a:t>
            </a:r>
            <a:r>
              <a:rPr kumimoji="1" lang="ko-KR" altLang="en-US" dirty="0"/>
              <a:t> 페어 케이블 분류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A251B1-BB4A-8BC3-F8C7-F7059E757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Cat:</a:t>
            </a:r>
            <a:r>
              <a:rPr kumimoji="1" lang="ko-KR" altLang="en-US" dirty="0"/>
              <a:t> 카테고리</a:t>
            </a:r>
            <a:endParaRPr kumimoji="1" lang="en-US" altLang="ko-KR" dirty="0"/>
          </a:p>
          <a:p>
            <a:r>
              <a:rPr kumimoji="1" lang="ko-KR" altLang="en-US" dirty="0"/>
              <a:t>카테고리가 높을수록 좋은 성능의 케이블</a:t>
            </a:r>
            <a:endParaRPr kumimoji="1" lang="en-US" altLang="ko-KR" dirty="0"/>
          </a:p>
          <a:p>
            <a:r>
              <a:rPr kumimoji="1" lang="ko-KR" altLang="en-US" dirty="0"/>
              <a:t>송수신 데이터 양</a:t>
            </a:r>
            <a:r>
              <a:rPr kumimoji="1" lang="en-US" altLang="ko-KR" dirty="0"/>
              <a:t>,</a:t>
            </a:r>
            <a:r>
              <a:rPr kumimoji="1" lang="ko-KR" altLang="en-US" dirty="0"/>
              <a:t> 전송 속도 등</a:t>
            </a:r>
            <a:endParaRPr kumimoji="1" lang="en-US" altLang="ko-KR" dirty="0"/>
          </a:p>
          <a:p>
            <a:r>
              <a:rPr kumimoji="1" lang="ko-KR" altLang="en-US" dirty="0"/>
              <a:t>아무튼 높을수록 좋다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8100AAC-6CDB-D5AB-2F29-13BE6DD6F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400" y="4301017"/>
            <a:ext cx="7569200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824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A2E60-86F0-A9A0-D958-FFCE62F4F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BE8C2C-233B-291B-BFCC-64E77B21A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광섬유 케이블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2238B3-06D5-8572-A3F0-FF2F40CB2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빛을 이용하여 대륙간 네트워크 연결</a:t>
            </a:r>
            <a:endParaRPr kumimoji="1" lang="en-US" altLang="ko-KR" dirty="0"/>
          </a:p>
          <a:p>
            <a:r>
              <a:rPr kumimoji="1" lang="ko-KR" altLang="en-US" dirty="0"/>
              <a:t>케이블 본체</a:t>
            </a:r>
            <a:endParaRPr kumimoji="1" lang="en-US" altLang="ko-KR" dirty="0"/>
          </a:p>
          <a:p>
            <a:r>
              <a:rPr kumimoji="1" lang="ko-KR" altLang="en-US" dirty="0"/>
              <a:t>커넥터 </a:t>
            </a:r>
            <a:r>
              <a:rPr kumimoji="1" lang="en-US" altLang="ko-KR" dirty="0"/>
              <a:t>(LC/SC/FC/ST</a:t>
            </a:r>
            <a:r>
              <a:rPr kumimoji="1" lang="ko-KR" altLang="en-US" dirty="0"/>
              <a:t>로 다양하다</a:t>
            </a:r>
            <a:r>
              <a:rPr kumimoji="1" lang="en-US" altLang="ko-KR" dirty="0"/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6ED52F-7CB7-0CFB-6C1D-828D727CA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581" y="3478714"/>
            <a:ext cx="3162300" cy="27686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566A923-1B79-0CD7-7B53-18D5646D1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893" y="3570356"/>
            <a:ext cx="5034985" cy="260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049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ED146-4371-FCE2-DB60-BC5CC1C5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56BFB8-2CA6-8574-39B3-D37795390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광섬유 케이블 </a:t>
            </a:r>
            <a:r>
              <a:rPr kumimoji="1" lang="ko-KR" altLang="en-US" dirty="0" err="1"/>
              <a:t>한가닥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A588ED-ABF9-F2CA-588F-208B25382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코어</a:t>
            </a:r>
            <a:r>
              <a:rPr kumimoji="1" lang="en-US" altLang="ko-KR" dirty="0"/>
              <a:t>:</a:t>
            </a:r>
            <a:r>
              <a:rPr kumimoji="1" lang="ko-KR" altLang="en-US" dirty="0"/>
              <a:t> 빛 이동하는 곳</a:t>
            </a:r>
            <a:endParaRPr kumimoji="1" lang="en-US" altLang="ko-KR" dirty="0"/>
          </a:p>
          <a:p>
            <a:r>
              <a:rPr kumimoji="1" lang="ko-KR" altLang="en-US" dirty="0" err="1"/>
              <a:t>클래딩</a:t>
            </a:r>
            <a:r>
              <a:rPr kumimoji="1" lang="en-US" altLang="ko-KR" dirty="0"/>
              <a:t>:</a:t>
            </a:r>
            <a:r>
              <a:rPr kumimoji="1" lang="ko-KR" altLang="en-US" dirty="0"/>
              <a:t> 빛이 코어로만 잘 이동되도록 가두는 역할</a:t>
            </a:r>
            <a:endParaRPr kumimoji="1" lang="en-US" altLang="ko-KR" dirty="0"/>
          </a:p>
          <a:p>
            <a:r>
              <a:rPr kumimoji="1" lang="ko-KR" altLang="en-US" dirty="0"/>
              <a:t>코어의 지름 크기에 따라 </a:t>
            </a:r>
            <a:r>
              <a:rPr kumimoji="1" lang="ko-KR" altLang="en-US" dirty="0" err="1"/>
              <a:t>싱글모드와</a:t>
            </a:r>
            <a:r>
              <a:rPr kumimoji="1" lang="ko-KR" altLang="en-US" dirty="0"/>
              <a:t> 멀티모드로 구분</a:t>
            </a:r>
            <a:endParaRPr kumimoji="1"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20D2DF-27CF-E169-E63A-A2874D75D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728" y="3571037"/>
            <a:ext cx="4449871" cy="274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042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125E5-BE33-9C11-5429-952749CEE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D540AA-1DF3-4985-E133-25FB4C675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 err="1"/>
              <a:t>싱글모드</a:t>
            </a:r>
            <a:r>
              <a:rPr kumimoji="1" lang="ko-KR" altLang="en-US" dirty="0"/>
              <a:t> 광섬유 케이블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761AE6-1364-1F8D-DA2B-76AC3D15A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코어 지름 </a:t>
            </a:r>
            <a:r>
              <a:rPr kumimoji="1" lang="en-US" altLang="ko-KR" dirty="0"/>
              <a:t>8~10</a:t>
            </a:r>
            <a:r>
              <a:rPr lang="el-GR" altLang="ko-KR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μ</a:t>
            </a:r>
            <a:r>
              <a:rPr lang="en" altLang="ko-KR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m</a:t>
            </a:r>
            <a:endParaRPr kumimoji="1" lang="en-US" altLang="ko-KR" dirty="0"/>
          </a:p>
          <a:p>
            <a:r>
              <a:rPr kumimoji="1" lang="ko-KR" altLang="en-US" dirty="0"/>
              <a:t>참고로 </a:t>
            </a:r>
            <a:r>
              <a:rPr kumimoji="1" lang="en-US" altLang="ko-KR" dirty="0"/>
              <a:t>1</a:t>
            </a:r>
            <a:r>
              <a:rPr lang="el-GR" altLang="ko-KR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μ</a:t>
            </a:r>
            <a:r>
              <a:rPr lang="en" altLang="ko-KR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m</a:t>
            </a:r>
            <a:r>
              <a:rPr lang="en-US" altLang="ko-KR" dirty="0">
                <a:solidFill>
                  <a:srgbClr val="001D35"/>
                </a:solidFill>
                <a:latin typeface="Arial" panose="020B0604020202020204" pitchFamily="34" charset="0"/>
              </a:rPr>
              <a:t>=1,000mm</a:t>
            </a:r>
          </a:p>
          <a:p>
            <a:r>
              <a:rPr kumimoji="1" lang="ko-KR" altLang="en-US" dirty="0">
                <a:solidFill>
                  <a:srgbClr val="001D35"/>
                </a:solidFill>
                <a:latin typeface="Arial" panose="020B0604020202020204" pitchFamily="34" charset="0"/>
              </a:rPr>
              <a:t>장거리 전송에 적합하나 비용이 높다</a:t>
            </a:r>
            <a:endParaRPr kumimoji="1" lang="en-US" altLang="ko-KR" dirty="0">
              <a:solidFill>
                <a:srgbClr val="001D35"/>
              </a:solidFill>
              <a:latin typeface="Arial" panose="020B0604020202020204" pitchFamily="34" charset="0"/>
            </a:endParaRPr>
          </a:p>
          <a:p>
            <a:r>
              <a:rPr kumimoji="1" lang="ko-KR" altLang="en-US" dirty="0">
                <a:solidFill>
                  <a:srgbClr val="001D35"/>
                </a:solidFill>
                <a:latin typeface="Arial" panose="020B0604020202020204" pitchFamily="34" charset="0"/>
              </a:rPr>
              <a:t>장파장 사용</a:t>
            </a:r>
            <a:endParaRPr kumimoji="1" lang="en-US" altLang="ko-KR" dirty="0"/>
          </a:p>
          <a:p>
            <a:endParaRPr kumimoji="1"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AD3AB58-59D7-E61C-128D-695467119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100" y="4151607"/>
            <a:ext cx="50038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24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3BBA8-E452-EB88-ED71-98A492523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92DFEC-38D7-C93C-E278-FDC0FF95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멀티모드 광섬유 케이블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AFC778-51A5-61D2-DCFF-65FF8EB6E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코어 지름 </a:t>
            </a:r>
            <a:r>
              <a:rPr kumimoji="1" lang="en-US" altLang="ko-KR" dirty="0"/>
              <a:t>50~62.5</a:t>
            </a:r>
            <a:r>
              <a:rPr lang="el-GR" altLang="ko-KR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μ</a:t>
            </a:r>
            <a:r>
              <a:rPr lang="en" altLang="ko-KR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m</a:t>
            </a:r>
            <a:endParaRPr kumimoji="1" lang="en-US" altLang="ko-KR" i="0" dirty="0">
              <a:effectLst/>
            </a:endParaRPr>
          </a:p>
          <a:p>
            <a:r>
              <a:rPr kumimoji="1" lang="ko-KR" altLang="en-US" dirty="0">
                <a:solidFill>
                  <a:srgbClr val="001D35"/>
                </a:solidFill>
                <a:latin typeface="Arial" panose="020B0604020202020204" pitchFamily="34" charset="0"/>
              </a:rPr>
              <a:t>빛 손실 커서 근거리 전송에 적합</a:t>
            </a:r>
            <a:endParaRPr kumimoji="1" lang="en-US" altLang="ko-KR" dirty="0">
              <a:solidFill>
                <a:srgbClr val="001D35"/>
              </a:solidFill>
              <a:latin typeface="Arial" panose="020B0604020202020204" pitchFamily="34" charset="0"/>
            </a:endParaRPr>
          </a:p>
          <a:p>
            <a:r>
              <a:rPr kumimoji="1" lang="ko-KR" altLang="en-US" dirty="0">
                <a:solidFill>
                  <a:srgbClr val="001D35"/>
                </a:solidFill>
                <a:latin typeface="Arial" panose="020B0604020202020204" pitchFamily="34" charset="0"/>
              </a:rPr>
              <a:t>단파장 사용</a:t>
            </a:r>
            <a:endParaRPr kumimoji="1" lang="en-US" altLang="ko-KR" dirty="0"/>
          </a:p>
          <a:p>
            <a:endParaRPr kumimoji="1"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1CDA16-A7C0-20F6-6EF8-9D85DFB8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413" y="3995803"/>
            <a:ext cx="5643237" cy="188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749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0A98B-59D3-BFD0-FA9F-B2C08DC55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E4FFB58-1293-238F-B0AC-CB46B34F9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413" y="3995803"/>
            <a:ext cx="5643237" cy="188107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0CA68F0-A03F-F840-F5A6-6C3D0A6C9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85" y="461532"/>
            <a:ext cx="9592093" cy="626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41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305</Words>
  <Application>Microsoft Macintosh PowerPoint</Application>
  <PresentationFormat>와이드스크린</PresentationFormat>
  <Paragraphs>75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물리계층과 데이터링크계층</vt:lpstr>
      <vt:lpstr>PowerPoint 프레젠테이션</vt:lpstr>
      <vt:lpstr>이더넷</vt:lpstr>
      <vt:lpstr>통신 매체 표기형태</vt:lpstr>
      <vt:lpstr>통신 매체 종류</vt:lpstr>
      <vt:lpstr>이더넷 프레임</vt:lpstr>
      <vt:lpstr>이더넷 프레임</vt:lpstr>
      <vt:lpstr>이더넷 프레임</vt:lpstr>
      <vt:lpstr>이더넷 프레임</vt:lpstr>
      <vt:lpstr>이더넷 프레임</vt:lpstr>
      <vt:lpstr>이더넷 프레임</vt:lpstr>
      <vt:lpstr>* 토큰링 (참고)</vt:lpstr>
      <vt:lpstr>PowerPoint 프레젠테이션</vt:lpstr>
      <vt:lpstr>트위스티드 페어 케이블</vt:lpstr>
      <vt:lpstr>트위스티드 페어 케이블 분류</vt:lpstr>
      <vt:lpstr>트위스티드 페어 케이블 분류</vt:lpstr>
      <vt:lpstr>광섬유 케이블</vt:lpstr>
      <vt:lpstr>광섬유 케이블 한가닥</vt:lpstr>
      <vt:lpstr>싱글모드 광섬유 케이블</vt:lpstr>
      <vt:lpstr>멀티모드 광섬유 케이블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오승연</dc:creator>
  <cp:lastModifiedBy>오승연</cp:lastModifiedBy>
  <cp:revision>1</cp:revision>
  <dcterms:created xsi:type="dcterms:W3CDTF">2026-01-13T08:06:45Z</dcterms:created>
  <dcterms:modified xsi:type="dcterms:W3CDTF">2026-01-13T08:50:16Z</dcterms:modified>
</cp:coreProperties>
</file>